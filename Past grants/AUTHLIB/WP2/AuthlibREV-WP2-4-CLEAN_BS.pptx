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11" r:id="rId2"/>
    <p:sldId id="412" r:id="rId3"/>
    <p:sldId id="413" r:id="rId4"/>
    <p:sldId id="286" r:id="rId5"/>
    <p:sldId id="258" r:id="rId6"/>
    <p:sldId id="257" r:id="rId7"/>
    <p:sldId id="276" r:id="rId8"/>
    <p:sldId id="277" r:id="rId9"/>
    <p:sldId id="287" r:id="rId10"/>
    <p:sldId id="288" r:id="rId11"/>
    <p:sldId id="289" r:id="rId12"/>
    <p:sldId id="1373" r:id="rId13"/>
    <p:sldId id="284" r:id="rId14"/>
    <p:sldId id="290" r:id="rId15"/>
    <p:sldId id="291" r:id="rId16"/>
    <p:sldId id="292" r:id="rId17"/>
    <p:sldId id="293" r:id="rId18"/>
    <p:sldId id="294" r:id="rId19"/>
    <p:sldId id="41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67"/>
    <p:restoredTop sz="94680"/>
  </p:normalViewPr>
  <p:slideViewPr>
    <p:cSldViewPr snapToGrid="0">
      <p:cViewPr varScale="1">
        <p:scale>
          <a:sx n="211" d="100"/>
          <a:sy n="211" d="100"/>
        </p:scale>
        <p:origin x="1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09E1-2E5B-9744-8A10-C5F87C781AAF}" type="datetimeFigureOut">
              <a:rPr lang="en-US" smtClean="0"/>
              <a:t>3/23/24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DE8D3-DB2B-D941-BBE3-46532D69A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37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BDC-8314-4138-B4F9-647D580B3F5C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402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BDC-8314-4138-B4F9-647D580B3F5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643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FD27-B3F6-1991-557E-54938648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6999-4C64-C055-19D8-9BB73A2EC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A1952-0050-151B-B25D-9CBA47231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EB3A-9F61-30DE-FDC6-44BEA570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78B94-DDA0-2A21-CB4E-B2981F91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5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8FC5-5181-E542-A32F-706B0C67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1E6B9-DC6D-D04B-F99B-2A2C39F03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11EA6-B8C4-82F6-14BA-9B6685D3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4234-E063-744F-4867-0D18BD45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36B44-BDA5-0A40-CE36-2196CC5CF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9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AD22-1B66-02E8-5ED8-2E873232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EFFD4-AA72-2508-CF4C-4C2C546E8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CFE81-04EC-DD3B-C27D-1AD7EF8F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CF5C1-F1A9-6C45-5416-B6B6A22F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19793-179A-C742-9CC8-D6F98974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05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A1761-9945-3AC7-4251-AA00B208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57768-6998-B323-09B1-6A2226936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D3B68-81D4-EC33-53A3-68F2462E6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EBB33-B279-0531-6872-F6621240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3B167-FFF3-4C1F-C31B-2C6A449A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9249F-1BBD-D2A4-B6DD-94F446128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6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6F3A-60E3-FC6E-DC57-D55B7F14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42F70-8E76-B9D0-F831-9F1674B09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C4C7F-B48F-3DD1-8080-19385C2BA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AA840-1A25-38CF-5648-F316EB097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AB7E75-4193-2D9E-7B16-10AFB4525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1A020-1371-782C-D313-5C4F2F083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19A60-2885-0ADA-6BA1-D330E446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B3E97B-FB02-7A4F-ED96-BBBAE631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5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67B97-EA09-D4A7-E2C1-ED40B2DB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49B1C-C90B-BCDE-BE9D-DDC5D3FC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9BE9A-F6B7-F87B-07CF-E98A7835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535F4-0F3F-580C-1E1D-8C20791B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2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85D1C-7025-CC00-C58C-FBEB73F5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CFA0E6-5846-5518-31D7-F7F6B515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27134-DB1E-298F-2BB5-BF22F6D4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4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DF48A-EED9-9749-723C-CC1CFD66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B975F-4EF0-3040-ED54-C7CD630F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A6950-164F-A2BD-FDF5-F262E5BB0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4299E-4ABA-0691-422A-9A1805C6C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405FD-2750-7B8D-0DBC-05677F5A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3268-BB55-8792-F359-07A34DEE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29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4498-407B-E527-F985-4F8BEA2B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D80DBF-F57B-DF60-2F4B-783F491C2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72C6E-5F38-6821-507A-941D85C04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55D5F-29A4-A00C-A9A2-37DDCF74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F30DE-E3B8-9DB7-3984-88BDF54A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25FE4-21FD-9B5C-D59F-0319D9E6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C531-8A5A-D0C0-B305-66CCB7437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72DFB-330B-9462-C967-7AF32C3FB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EBA96-E7F5-D50C-574C-855123FE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6B3B8-E036-16A4-0D76-2431824C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8B8E7-B51C-EDBF-73E8-37009565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9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B11A7C-5CAB-A733-CC8D-BBB499997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4A63B-5176-8324-B158-D72DF3748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46CC2-AC5E-F65B-921D-4F4A09A3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08A6-D407-5F0E-B2FD-47B70FCB9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B3B38-DA89-ACB6-4495-21E38A09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98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5198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AUTHLIB Project Kick-off Meeting - October 20-21, 2022 - Central European University, Budapest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A817B1-E75C-4DB8-9B0A-1A0AC25A777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03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435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5F9FF-0C8D-6AE3-BDAB-59B36D5FD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3D3B2-EDE1-B90A-EA29-330E47AF9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89136-84A0-75B4-16E7-029495095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ADC95-B0E0-0F46-B4F6-558AFC0B88FD}" type="datetimeFigureOut">
              <a:rPr lang="en-US" smtClean="0"/>
              <a:t>3/23/24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EA60-1F79-1223-AD9C-D3772BEA2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813F-165B-2C19-5278-44E7DF1DE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E5127-4591-454E-9572-53A7D5B4A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3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D8EF635-7233-764D-9087-323CC48AF4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3" b="8313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990143" y="3182135"/>
            <a:ext cx="17427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AUTHLIB</a:t>
            </a:r>
          </a:p>
          <a:p>
            <a:pPr algn="l"/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1600" dirty="0">
                <a:solidFill>
                  <a:srgbClr val="FFFFFF"/>
                </a:solidFill>
              </a:rPr>
              <a:t>Neo-Authoritarianisms in Europe and the Liberal Democratic Response</a:t>
            </a:r>
            <a:endParaRPr lang="en-GB" sz="16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Text Placeholder 10"/>
          <p:cNvSpPr txBox="1">
            <a:spLocks/>
          </p:cNvSpPr>
          <p:nvPr/>
        </p:nvSpPr>
        <p:spPr>
          <a:xfrm>
            <a:off x="4229996" y="3209529"/>
            <a:ext cx="7962004" cy="190831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1" dirty="0">
                <a:solidFill>
                  <a:schemeClr val="bg1"/>
                </a:solidFill>
                <a:latin typeface="Avenir Book"/>
              </a:rPr>
              <a:t>WP2 Challenges to liberal democracy, dimensions of empirical research​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​​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Lead SWPS​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​</a:t>
            </a:r>
            <a:br>
              <a:rPr lang="en-GB" sz="1800" b="1" dirty="0">
                <a:solidFill>
                  <a:schemeClr val="bg1"/>
                </a:solidFill>
                <a:latin typeface="Avenir Book"/>
              </a:rPr>
            </a:br>
            <a:r>
              <a:rPr lang="en-GB" sz="1800" b="1" dirty="0">
                <a:solidFill>
                  <a:schemeClr val="bg1"/>
                </a:solidFill>
                <a:latin typeface="Avenir Book"/>
              </a:rPr>
              <a:t>M2-6 (November 2022 – March 2023)​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81462" y="2474844"/>
            <a:ext cx="0" cy="1908313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E88F6A5-3FFA-BF43-8557-EF96CC35F0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91" y="1740158"/>
            <a:ext cx="1412858" cy="14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05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 txBox="1">
            <a:spLocks/>
          </p:cNvSpPr>
          <p:nvPr/>
        </p:nvSpPr>
        <p:spPr>
          <a:xfrm>
            <a:off x="318052" y="2678758"/>
            <a:ext cx="11559209" cy="397807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Avenir" panose="02000503020000020003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venir"/>
              </a:rPr>
              <a:t>D2.1 Literature review: Illiberalism, Authoritarianism and Populism M5​</a:t>
            </a:r>
          </a:p>
          <a:p>
            <a:pPr algn="just">
              <a:lnSpc>
                <a:spcPct val="150000"/>
              </a:lnSpc>
            </a:pPr>
            <a:r>
              <a:rPr lang="en-GB" sz="2000" dirty="0">
                <a:latin typeface="Avenir"/>
              </a:rPr>
              <a:t>​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venir"/>
              </a:rPr>
              <a:t>D2.2 Guidelines for empirical data collection M6​</a:t>
            </a:r>
          </a:p>
          <a:p>
            <a:pPr algn="just">
              <a:lnSpc>
                <a:spcPct val="150000"/>
              </a:lnSpc>
            </a:pPr>
            <a:endParaRPr lang="en-GB" sz="2000" dirty="0">
              <a:latin typeface="Avenir" panose="02000503020000020003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Avenir"/>
              </a:rPr>
              <a:t>Milestone – Guidelines for empirical data collection M6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Avenir" panose="02000503020000020003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latin typeface="Avenir" panose="02000503020000020003" pitchFamily="2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600" dirty="0">
              <a:latin typeface="Avenir" panose="02000503020000020003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45295D-B7DF-1741-A6BB-F8FB14597E77}"/>
              </a:ext>
            </a:extLst>
          </p:cNvPr>
          <p:cNvSpPr/>
          <p:nvPr/>
        </p:nvSpPr>
        <p:spPr>
          <a:xfrm flipV="1">
            <a:off x="0" y="2488063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AEA40DD-F2AF-2B4B-99F9-F19E773963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2488063"/>
          </a:xfrm>
        </p:spPr>
      </p:pic>
      <p:sp>
        <p:nvSpPr>
          <p:cNvPr id="6" name="TextBox 5"/>
          <p:cNvSpPr txBox="1"/>
          <p:nvPr/>
        </p:nvSpPr>
        <p:spPr>
          <a:xfrm>
            <a:off x="3476065" y="1016214"/>
            <a:ext cx="5001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spc="300" dirty="0">
                <a:solidFill>
                  <a:schemeClr val="bg1"/>
                </a:solidFill>
                <a:latin typeface="Avenir Black" panose="02000503020000020003" pitchFamily="2" charset="0"/>
              </a:rPr>
              <a:t>Two deliverables &amp; one milestone </a:t>
            </a:r>
          </a:p>
        </p:txBody>
      </p:sp>
    </p:spTree>
    <p:extLst>
      <p:ext uri="{BB962C8B-B14F-4D97-AF65-F5344CB8AC3E}">
        <p14:creationId xmlns:p14="http://schemas.microsoft.com/office/powerpoint/2010/main" val="18677602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45295D-B7DF-1741-A6BB-F8FB14597E77}"/>
              </a:ext>
            </a:extLst>
          </p:cNvPr>
          <p:cNvSpPr/>
          <p:nvPr/>
        </p:nvSpPr>
        <p:spPr>
          <a:xfrm flipV="1">
            <a:off x="0" y="2488063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FAEA40DD-F2AF-2B4B-99F9-F19E773963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2488063"/>
          </a:xfrm>
        </p:spPr>
      </p:pic>
      <p:sp>
        <p:nvSpPr>
          <p:cNvPr id="6" name="TextBox 5"/>
          <p:cNvSpPr txBox="1"/>
          <p:nvPr/>
        </p:nvSpPr>
        <p:spPr>
          <a:xfrm>
            <a:off x="4154776" y="1016214"/>
            <a:ext cx="36439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b="1" spc="300" dirty="0">
                <a:solidFill>
                  <a:schemeClr val="bg1"/>
                </a:solidFill>
                <a:latin typeface="Avenir Black" panose="02000503020000020003" pitchFamily="2" charset="0"/>
              </a:rPr>
              <a:t>Key meetings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C2DC2-6F4A-F1EB-1005-7A26624DC402}"/>
              </a:ext>
            </a:extLst>
          </p:cNvPr>
          <p:cNvSpPr txBox="1"/>
          <p:nvPr/>
        </p:nvSpPr>
        <p:spPr>
          <a:xfrm>
            <a:off x="221566" y="2913077"/>
            <a:ext cx="60983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pl-PL" sz="1800" b="1" i="0" u="none" strike="noStrike" dirty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AUTHLIB </a:t>
            </a:r>
            <a:r>
              <a:rPr lang="pl-PL" sz="1800" b="1" i="0" u="none" strike="noStrike" dirty="0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consortium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first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virtual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workshop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 on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February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24, 2023 </a:t>
            </a:r>
            <a:r>
              <a:rPr lang="en-US" sz="1800" b="0" i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​</a:t>
            </a:r>
          </a:p>
          <a:p>
            <a:pPr algn="l" rtl="0" fontAlgn="base"/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endParaRPr lang="pl-PL" sz="1800" b="1" i="0" u="none" strike="noStrike">
              <a:solidFill>
                <a:srgbClr val="000000"/>
              </a:solidFill>
              <a:effectLst/>
              <a:latin typeface="Corbel" panose="020B0503020204020204" pitchFamily="34" charset="0"/>
            </a:endParaRPr>
          </a:p>
          <a:p>
            <a:pPr algn="l" rtl="0" fontAlgn="base"/>
            <a:endParaRPr lang="pl-PL" b="1">
              <a:solidFill>
                <a:srgbClr val="000000"/>
              </a:solidFill>
              <a:latin typeface="Corbel" panose="020B0503020204020204" pitchFamily="34" charset="0"/>
            </a:endParaRPr>
          </a:p>
          <a:p>
            <a:pPr algn="l" rtl="0" fontAlgn="base"/>
            <a:endParaRPr lang="pl-PL" sz="1800" b="1" i="0" u="none" strike="noStrike">
              <a:solidFill>
                <a:srgbClr val="000000"/>
              </a:solidFill>
              <a:effectLst/>
              <a:latin typeface="Corbel" panose="020B0503020204020204" pitchFamily="34" charset="0"/>
            </a:endParaRPr>
          </a:p>
          <a:p>
            <a:pPr algn="l" rtl="0" fontAlgn="base"/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Hybrid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internal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workshop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held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on March 29, 2023 on-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site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at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 the University of </a:t>
            </a:r>
            <a:r>
              <a:rPr lang="pl-PL" sz="1800" b="1" i="0" u="none" strike="noStrike" err="1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Vienna</a:t>
            </a:r>
            <a:r>
              <a:rPr lang="pl-PL" sz="1800" b="1" i="0" u="none" strike="noStrike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 and online</a:t>
            </a:r>
            <a:r>
              <a:rPr lang="en-US" sz="1800" b="0" i="0">
                <a:solidFill>
                  <a:srgbClr val="000000"/>
                </a:solidFill>
                <a:effectLst/>
                <a:latin typeface="Corbel" panose="020B050302020402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0" name="Picture 9" descr="A group of people in a video conference&#10;&#10;Description automatically generated">
            <a:extLst>
              <a:ext uri="{FF2B5EF4-FFF2-40B4-BE49-F238E27FC236}">
                <a16:creationId xmlns:a16="http://schemas.microsoft.com/office/drawing/2014/main" id="{C053E94E-6DC1-27AD-3B48-BFB5659892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722" y="2612290"/>
            <a:ext cx="3123027" cy="423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41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C0E414-51E7-A8AD-4D89-1F5B43EA8BB7}"/>
              </a:ext>
            </a:extLst>
          </p:cNvPr>
          <p:cNvSpPr/>
          <p:nvPr/>
        </p:nvSpPr>
        <p:spPr>
          <a:xfrm flipV="1">
            <a:off x="-81023" y="1812985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A2E9C80F-272C-0317-D6E8-23B3C804A7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187509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>
                <a:solidFill>
                  <a:schemeClr val="bg1"/>
                </a:solidFill>
              </a:rPr>
              <a:t>D2.1 </a:t>
            </a:r>
            <a:r>
              <a:rPr lang="pl-PL" err="1">
                <a:solidFill>
                  <a:schemeClr val="bg1"/>
                </a:solidFill>
              </a:rPr>
              <a:t>Structure</a:t>
            </a:r>
            <a:endParaRPr lang="pl-PL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5489"/>
            <a:ext cx="10515600" cy="395566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What is illiberalism?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Illiberalism as regime type: Illiberal democracies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Illiberalism as ideology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Bringing illiberal values and practices together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How is illiberalism different from authoritarianism and populism?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Authoritarianism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Populism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Mapping illiberalism against authoritarianism and populism</a:t>
            </a:r>
          </a:p>
          <a:p>
            <a:pPr marL="971550" lvl="1" indent="-514350">
              <a:buFont typeface="+mj-lt"/>
              <a:buAutoNum type="arabicPeriod"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Sequencing illiberalism, authoritarianism and populism 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Varieties of illiberalism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Postliberalism</a:t>
            </a:r>
          </a:p>
          <a:p>
            <a:pPr marL="514350" indent="-514350">
              <a:buFont typeface="+mj-lt"/>
              <a:buAutoNum type="arabicPeriod"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Illiberal liberalism</a:t>
            </a:r>
          </a:p>
          <a:p>
            <a:pPr marL="971550" lvl="1" indent="-514350">
              <a:buFont typeface="+mj-lt"/>
              <a:buAutoNum type="arabicPeriod"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811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B333D7-F496-41E6-66E5-C82D50056714}"/>
              </a:ext>
            </a:extLst>
          </p:cNvPr>
          <p:cNvSpPr/>
          <p:nvPr/>
        </p:nvSpPr>
        <p:spPr>
          <a:xfrm flipV="1">
            <a:off x="-38582" y="2252981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09B20CA1-3BFD-E6A0-6F06-1BF3592AE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12192000" cy="2252981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9CD8FB2-4F33-4344-9714-4AF999F9D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005839"/>
          </a:xfrm>
        </p:spPr>
        <p:txBody>
          <a:bodyPr>
            <a:noAutofit/>
          </a:bodyPr>
          <a:lstStyle/>
          <a:p>
            <a:r>
              <a:rPr lang="pl-PL" sz="3200" b="1">
                <a:solidFill>
                  <a:schemeClr val="bg1"/>
                </a:solidFill>
              </a:rPr>
              <a:t>WP2 = </a:t>
            </a:r>
            <a:r>
              <a:rPr lang="pl-PL" sz="3200" b="1" err="1">
                <a:solidFill>
                  <a:schemeClr val="bg1"/>
                </a:solidFill>
              </a:rPr>
              <a:t>making</a:t>
            </a:r>
            <a:r>
              <a:rPr lang="pl-PL" sz="3200" b="1">
                <a:solidFill>
                  <a:schemeClr val="bg1"/>
                </a:solidFill>
              </a:rPr>
              <a:t> </a:t>
            </a:r>
            <a:r>
              <a:rPr lang="pl-PL" sz="3200" b="1" err="1">
                <a:solidFill>
                  <a:schemeClr val="bg1"/>
                </a:solidFill>
              </a:rPr>
              <a:t>sense</a:t>
            </a:r>
            <a:r>
              <a:rPr lang="pl-PL" sz="3200" b="1">
                <a:solidFill>
                  <a:schemeClr val="bg1"/>
                </a:solidFill>
              </a:rPr>
              <a:t> of the </a:t>
            </a:r>
            <a:r>
              <a:rPr lang="pl-PL" sz="3200" b="1" err="1">
                <a:solidFill>
                  <a:schemeClr val="bg1"/>
                </a:solidFill>
              </a:rPr>
              <a:t>rich</a:t>
            </a:r>
            <a:r>
              <a:rPr lang="pl-PL" sz="3200" b="1">
                <a:solidFill>
                  <a:schemeClr val="bg1"/>
                </a:solidFill>
              </a:rPr>
              <a:t> </a:t>
            </a:r>
            <a:r>
              <a:rPr lang="pl-PL" sz="3200" b="1" err="1">
                <a:solidFill>
                  <a:schemeClr val="bg1"/>
                </a:solidFill>
              </a:rPr>
              <a:t>literature</a:t>
            </a:r>
            <a:r>
              <a:rPr lang="pl-PL" sz="3200" b="1">
                <a:solidFill>
                  <a:schemeClr val="bg1"/>
                </a:solidFill>
              </a:rPr>
              <a:t> and </a:t>
            </a:r>
            <a:r>
              <a:rPr lang="pl-PL" sz="3200" b="1" err="1">
                <a:solidFill>
                  <a:schemeClr val="bg1"/>
                </a:solidFill>
              </a:rPr>
              <a:t>conceptual</a:t>
            </a:r>
            <a:r>
              <a:rPr lang="pl-PL" sz="3200" b="1">
                <a:solidFill>
                  <a:schemeClr val="bg1"/>
                </a:solidFill>
              </a:rPr>
              <a:t> order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5758B69-2E7E-4276-8958-46F1EA09E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5878"/>
            <a:ext cx="10515600" cy="4242122"/>
          </a:xfrm>
        </p:spPr>
        <p:txBody>
          <a:bodyPr>
            <a:normAutofit fontScale="85000" lnSpcReduction="20000"/>
          </a:bodyPr>
          <a:lstStyle/>
          <a:p>
            <a:r>
              <a:rPr lang="en-US" sz="2800" cap="none">
                <a:latin typeface="Corbel" panose="020B0503020204020204" pitchFamily="34" charset="0"/>
              </a:rPr>
              <a:t>Populism, illiberalism, and authoritarianism</a:t>
            </a:r>
            <a:r>
              <a:rPr lang="pl-PL" sz="2800" cap="none">
                <a:latin typeface="Corbel" panose="020B0503020204020204" pitchFamily="34" charset="0"/>
              </a:rPr>
              <a:t> (PIA)</a:t>
            </a:r>
            <a:r>
              <a:rPr lang="pl-PL">
                <a:latin typeface="Corbel" panose="020B0503020204020204" pitchFamily="34" charset="0"/>
              </a:rPr>
              <a:t> </a:t>
            </a:r>
            <a:r>
              <a:rPr lang="pl-PL" err="1">
                <a:latin typeface="Corbel" panose="020B0503020204020204" pitchFamily="34" charset="0"/>
              </a:rPr>
              <a:t>used</a:t>
            </a:r>
            <a:r>
              <a:rPr lang="pl-PL">
                <a:latin typeface="Corbel" panose="020B0503020204020204" pitchFamily="34" charset="0"/>
              </a:rPr>
              <a:t> </a:t>
            </a:r>
            <a:r>
              <a:rPr lang="pl-PL" err="1">
                <a:latin typeface="Corbel" panose="020B0503020204020204" pitchFamily="34" charset="0"/>
              </a:rPr>
              <a:t>interchangeably</a:t>
            </a:r>
            <a:endParaRPr lang="pl-PL" sz="2800" cap="none">
              <a:latin typeface="Corbel" panose="020B0503020204020204" pitchFamily="34" charset="0"/>
            </a:endParaRPr>
          </a:p>
          <a:p>
            <a:endParaRPr lang="pl-PL" sz="2800">
              <a:latin typeface="Corbel" panose="020B0503020204020204" pitchFamily="34" charset="0"/>
            </a:endParaRPr>
          </a:p>
          <a:p>
            <a:r>
              <a:rPr lang="en-US" sz="2800" cap="none">
                <a:latin typeface="Corbel" panose="020B0503020204020204" pitchFamily="34" charset="0"/>
              </a:rPr>
              <a:t>All three challenge different aspects of liberal democracies</a:t>
            </a:r>
            <a:r>
              <a:rPr lang="pl-PL" sz="2800" cap="none">
                <a:latin typeface="Corbel" panose="020B0503020204020204" pitchFamily="34" charset="0"/>
              </a:rPr>
              <a:t> (</a:t>
            </a:r>
            <a:r>
              <a:rPr lang="pl-PL" sz="2800" cap="none" err="1">
                <a:latin typeface="Corbel" panose="020B0503020204020204" pitchFamily="34" charset="0"/>
              </a:rPr>
              <a:t>LDs</a:t>
            </a:r>
            <a:r>
              <a:rPr lang="pl-PL" sz="2800" cap="none">
                <a:latin typeface="Corbel" panose="020B0503020204020204" pitchFamily="34" charset="0"/>
              </a:rPr>
              <a:t>)</a:t>
            </a:r>
            <a:r>
              <a:rPr lang="en-US" sz="2800" cap="none">
                <a:latin typeface="Corbel" panose="020B0503020204020204" pitchFamily="34" charset="0"/>
              </a:rPr>
              <a:t>, </a:t>
            </a:r>
            <a:r>
              <a:rPr lang="en-US" sz="2800" b="1" cap="none">
                <a:latin typeface="Corbel" panose="020B0503020204020204" pitchFamily="34" charset="0"/>
              </a:rPr>
              <a:t>unveil specific traits and manifest idiosyncratic developments. </a:t>
            </a:r>
            <a:endParaRPr lang="pl-PL" sz="2800" b="1" cap="none">
              <a:latin typeface="Corbel" panose="020B0503020204020204" pitchFamily="34" charset="0"/>
            </a:endParaRPr>
          </a:p>
          <a:p>
            <a:endParaRPr lang="pl-PL" sz="2800" b="1">
              <a:latin typeface="Corbel" panose="020B0503020204020204" pitchFamily="34" charset="0"/>
            </a:endParaRPr>
          </a:p>
          <a:p>
            <a:r>
              <a:rPr lang="en-US" sz="2800" cap="none">
                <a:latin typeface="Corbel" panose="020B0503020204020204" pitchFamily="34" charset="0"/>
              </a:rPr>
              <a:t>Divergent factors determine them and are facilitated by different socio-political </a:t>
            </a:r>
            <a:r>
              <a:rPr lang="en-US" sz="2800" b="1" cap="none">
                <a:latin typeface="Corbel" panose="020B0503020204020204" pitchFamily="34" charset="0"/>
              </a:rPr>
              <a:t>contexts.</a:t>
            </a:r>
            <a:r>
              <a:rPr lang="en-US" sz="2800" cap="none">
                <a:latin typeface="Corbel" panose="020B0503020204020204" pitchFamily="34" charset="0"/>
              </a:rPr>
              <a:t> </a:t>
            </a:r>
            <a:endParaRPr lang="pl-PL" sz="2800" cap="none">
              <a:latin typeface="Corbel" panose="020B0503020204020204" pitchFamily="34" charset="0"/>
            </a:endParaRPr>
          </a:p>
          <a:p>
            <a:endParaRPr lang="pl-PL" sz="2800" b="1" cap="none">
              <a:latin typeface="Corbel" panose="020B0503020204020204" pitchFamily="34" charset="0"/>
            </a:endParaRPr>
          </a:p>
          <a:p>
            <a:r>
              <a:rPr lang="en-US" sz="2800" b="1" cap="none">
                <a:latin typeface="Corbel" panose="020B0503020204020204" pitchFamily="34" charset="0"/>
              </a:rPr>
              <a:t>Conceptual order is needed</a:t>
            </a:r>
            <a:r>
              <a:rPr lang="en-US" sz="2800" cap="none">
                <a:latin typeface="Corbel" panose="020B0503020204020204" pitchFamily="34" charset="0"/>
              </a:rPr>
              <a:t>. </a:t>
            </a:r>
            <a:endParaRPr lang="pl-PL" sz="2800" cap="none">
              <a:latin typeface="Corbel" panose="020B0503020204020204" pitchFamily="34" charset="0"/>
            </a:endParaRPr>
          </a:p>
          <a:p>
            <a:endParaRPr lang="pl-PL" sz="2800" cap="none">
              <a:latin typeface="Corbel" panose="020B0503020204020204" pitchFamily="34" charset="0"/>
            </a:endParaRPr>
          </a:p>
          <a:p>
            <a:r>
              <a:rPr lang="pl-PL" sz="2800" cap="none">
                <a:latin typeface="Corbel" panose="020B0503020204020204" pitchFamily="34" charset="0"/>
              </a:rPr>
              <a:t>PIA </a:t>
            </a:r>
            <a:r>
              <a:rPr lang="en-US" sz="2800" cap="none">
                <a:latin typeface="Corbel" panose="020B0503020204020204" pitchFamily="34" charset="0"/>
              </a:rPr>
              <a:t>regimes competing with </a:t>
            </a:r>
            <a:r>
              <a:rPr lang="pl-PL" sz="2800" err="1">
                <a:latin typeface="Corbel" panose="020B0503020204020204" pitchFamily="34" charset="0"/>
              </a:rPr>
              <a:t>LDs</a:t>
            </a:r>
            <a:r>
              <a:rPr lang="en-US" sz="2800" cap="none">
                <a:latin typeface="Corbel" panose="020B0503020204020204" pitchFamily="34" charset="0"/>
              </a:rPr>
              <a:t> </a:t>
            </a:r>
            <a:r>
              <a:rPr lang="en-US" sz="2800" b="1" cap="none">
                <a:latin typeface="Corbel" panose="020B0503020204020204" pitchFamily="34" charset="0"/>
              </a:rPr>
              <a:t>placed within the grand frame of recent history, time sequence, and multiple contextual impacts</a:t>
            </a:r>
            <a:r>
              <a:rPr lang="pl-PL" sz="2800" b="1" cap="none">
                <a:latin typeface="Corbel" panose="020B0503020204020204" pitchFamily="34" charset="0"/>
              </a:rPr>
              <a:t>.</a:t>
            </a: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962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BC68B5-F399-3A31-6006-F14E1508C19E}"/>
              </a:ext>
            </a:extLst>
          </p:cNvPr>
          <p:cNvSpPr/>
          <p:nvPr/>
        </p:nvSpPr>
        <p:spPr>
          <a:xfrm flipV="1">
            <a:off x="0" y="1144588"/>
            <a:ext cx="12192000" cy="7455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640DE68A-0A88-CC15-97B1-5ACC035F5E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-115746"/>
            <a:ext cx="12192000" cy="1260334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07CBCF07-3617-430B-9B2B-EBF1D19CF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4588"/>
          </a:xfrm>
        </p:spPr>
        <p:txBody>
          <a:bodyPr>
            <a:normAutofit/>
          </a:bodyPr>
          <a:lstStyle/>
          <a:p>
            <a:r>
              <a:rPr lang="pl-PL" sz="3600" err="1">
                <a:solidFill>
                  <a:schemeClr val="bg1"/>
                </a:solidFill>
              </a:rPr>
              <a:t>Populism</a:t>
            </a:r>
            <a:r>
              <a:rPr lang="pl-PL" sz="3600">
                <a:solidFill>
                  <a:schemeClr val="bg1"/>
                </a:solidFill>
              </a:rPr>
              <a:t> – </a:t>
            </a:r>
            <a:r>
              <a:rPr lang="pl-PL" sz="3600" err="1">
                <a:solidFill>
                  <a:schemeClr val="bg1"/>
                </a:solidFill>
              </a:rPr>
              <a:t>Illiberalism</a:t>
            </a:r>
            <a:r>
              <a:rPr lang="pl-PL" sz="3600">
                <a:solidFill>
                  <a:schemeClr val="bg1"/>
                </a:solidFill>
              </a:rPr>
              <a:t> – </a:t>
            </a:r>
            <a:r>
              <a:rPr lang="pl-PL" sz="3600" err="1">
                <a:solidFill>
                  <a:schemeClr val="bg1"/>
                </a:solidFill>
              </a:rPr>
              <a:t>Authoritarianism</a:t>
            </a:r>
            <a:r>
              <a:rPr lang="pl-PL" sz="3600">
                <a:solidFill>
                  <a:schemeClr val="bg1"/>
                </a:solidFill>
              </a:rPr>
              <a:t>: </a:t>
            </a:r>
            <a:r>
              <a:rPr lang="pl-PL" sz="3600" err="1">
                <a:solidFill>
                  <a:schemeClr val="bg1"/>
                </a:solidFill>
              </a:rPr>
              <a:t>overlaps</a:t>
            </a:r>
            <a:r>
              <a:rPr lang="pl-PL" sz="3600">
                <a:solidFill>
                  <a:schemeClr val="bg1"/>
                </a:solidFill>
              </a:rPr>
              <a:t> &amp; </a:t>
            </a:r>
            <a:r>
              <a:rPr lang="pl-PL" sz="3600" err="1">
                <a:solidFill>
                  <a:schemeClr val="bg1"/>
                </a:solidFill>
              </a:rPr>
              <a:t>idiosyncrasies</a:t>
            </a:r>
            <a:endParaRPr lang="pl-PL" sz="36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D86B6-0526-419E-9382-331B6AFA9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137" y="1334613"/>
            <a:ext cx="7589725" cy="552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76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ED4F7A-8A84-FB22-F63A-71B9A418C0F0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C9CC5992-BE3D-7225-FE4C-19BD719BA9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>
                <a:solidFill>
                  <a:schemeClr val="bg1"/>
                </a:solidFill>
              </a:rPr>
              <a:t>Dynamics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8350"/>
            <a:ext cx="10515600" cy="48196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</a:rPr>
              <a:t>PIA </a:t>
            </a:r>
            <a:r>
              <a:rPr lang="pl-PL" noProof="1">
                <a:latin typeface="Corbel" panose="020B0503020204020204" pitchFamily="34" charset="0"/>
              </a:rPr>
              <a:t>phenomena (as set of ideas, ideologies and regimes) ought to be </a:t>
            </a:r>
            <a:r>
              <a:rPr lang="pl-PL" b="1" noProof="1">
                <a:latin typeface="Corbel" panose="020B0503020204020204" pitchFamily="34" charset="0"/>
              </a:rPr>
              <a:t>analized dynamically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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their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sequence and gradualism </a:t>
            </a: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Typically: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dismantling of LDs </a:t>
            </a:r>
            <a:r>
              <a:rPr lang="pl-PL" b="1" noProof="1">
                <a:solidFill>
                  <a:srgbClr val="FF0000"/>
                </a:solidFill>
                <a:latin typeface="Corbel" panose="020B0503020204020204" pitchFamily="34" charset="0"/>
                <a:sym typeface="Wingdings" panose="05000000000000000000" pitchFamily="2" charset="2"/>
              </a:rPr>
              <a:t>starts with Populism</a:t>
            </a:r>
            <a:r>
              <a:rPr lang="pl-PL" noProof="1">
                <a:solidFill>
                  <a:srgbClr val="FF0000"/>
                </a:solidFill>
                <a:latin typeface="Corbel" panose="020B0503020204020204" pitchFamily="34" charset="0"/>
                <a:sym typeface="Wingdings" panose="05000000000000000000" pitchFamily="2" charset="2"/>
              </a:rPr>
              <a:t>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as it is  relatively ”easy  &amp; low cost” &amp; seems democratically legitimate.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Next: Illiberalism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Next: Authoritarianism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The sequence is by no means deterministic, nor universal.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Reverse developments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happen – and depend on the public reaction</a:t>
            </a:r>
          </a:p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722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26EEF-482B-8B8F-8051-E96038D0392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187C7325-1A04-2F10-5986-13AD53D514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D2.2 </a:t>
            </a:r>
            <a:r>
              <a:rPr lang="en-US" sz="2800" b="1">
                <a:solidFill>
                  <a:schemeClr val="bg1"/>
                </a:solidFill>
                <a:effectLst/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Guidelines for Empirical Data Collection</a:t>
            </a:r>
            <a:endParaRPr lang="pl-PL" sz="28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2107066"/>
            <a:ext cx="11567160" cy="475093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Research</a:t>
            </a:r>
            <a:r>
              <a:rPr lang="pl-PL"/>
              <a:t> </a:t>
            </a:r>
            <a:r>
              <a:rPr lang="pl-PL" err="1"/>
              <a:t>questions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specified</a:t>
            </a:r>
            <a:r>
              <a:rPr lang="pl-PL"/>
              <a:t> and – </a:t>
            </a:r>
            <a:r>
              <a:rPr lang="pl-PL" err="1"/>
              <a:t>where</a:t>
            </a:r>
            <a:r>
              <a:rPr lang="pl-PL"/>
              <a:t> </a:t>
            </a:r>
            <a:r>
              <a:rPr lang="pl-PL" err="1"/>
              <a:t>possible</a:t>
            </a:r>
            <a:r>
              <a:rPr lang="pl-PL"/>
              <a:t> – </a:t>
            </a:r>
            <a:r>
              <a:rPr lang="pl-PL" err="1"/>
              <a:t>structured</a:t>
            </a:r>
            <a:r>
              <a:rPr lang="pl-PL"/>
              <a:t> </a:t>
            </a:r>
            <a:r>
              <a:rPr lang="pl-PL" err="1"/>
              <a:t>hypotheses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put</a:t>
            </a:r>
            <a:r>
              <a:rPr lang="pl-PL"/>
              <a:t> </a:t>
            </a:r>
            <a:r>
              <a:rPr lang="pl-PL" err="1"/>
              <a:t>forward</a:t>
            </a:r>
            <a:r>
              <a:rPr lang="pl-PL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levels</a:t>
            </a:r>
            <a:r>
              <a:rPr lang="pl-PL"/>
              <a:t> and </a:t>
            </a:r>
            <a:r>
              <a:rPr lang="pl-PL" err="1"/>
              <a:t>units</a:t>
            </a:r>
            <a:r>
              <a:rPr lang="pl-PL"/>
              <a:t> of </a:t>
            </a:r>
            <a:r>
              <a:rPr lang="pl-PL" err="1"/>
              <a:t>analysis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identified</a:t>
            </a:r>
            <a:r>
              <a:rPr lang="pl-PL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Methods</a:t>
            </a:r>
            <a:r>
              <a:rPr lang="pl-PL"/>
              <a:t> and </a:t>
            </a:r>
            <a:r>
              <a:rPr lang="pl-PL" err="1"/>
              <a:t>existing</a:t>
            </a:r>
            <a:r>
              <a:rPr lang="pl-PL"/>
              <a:t> data </a:t>
            </a:r>
            <a:r>
              <a:rPr lang="pl-PL" err="1"/>
              <a:t>sources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outlined</a:t>
            </a:r>
            <a:r>
              <a:rPr lang="pl-PL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Central </a:t>
            </a:r>
            <a:r>
              <a:rPr lang="pl-PL" err="1"/>
              <a:t>issues</a:t>
            </a:r>
            <a:r>
              <a:rPr lang="pl-PL"/>
              <a:t> and </a:t>
            </a:r>
            <a:r>
              <a:rPr lang="pl-PL" err="1"/>
              <a:t>dimensions</a:t>
            </a:r>
            <a:r>
              <a:rPr lang="pl-PL"/>
              <a:t> </a:t>
            </a:r>
            <a:r>
              <a:rPr lang="pl-PL" err="1"/>
              <a:t>were</a:t>
            </a:r>
            <a:r>
              <a:rPr lang="pl-PL"/>
              <a:t> </a:t>
            </a:r>
            <a:r>
              <a:rPr lang="pl-PL" err="1"/>
              <a:t>described</a:t>
            </a:r>
            <a:r>
              <a:rPr lang="pl-PL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765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84B8DC-BF90-4FFA-6386-192DFCE6B5B4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6E001FA7-BAFB-2AF3-AC93-2B3A1ADED3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Key research questions</a:t>
            </a:r>
            <a:endParaRPr lang="pl-PL" sz="32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06" y="1916133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What are the </a:t>
            </a:r>
            <a:r>
              <a:rPr lang="en-GB" b="1"/>
              <a:t>core constitutive elements of illiberalism </a:t>
            </a:r>
            <a:r>
              <a:rPr lang="en-GB"/>
              <a:t>and what are the main theoretical varieties of illiberalism?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Which elements of liberal democracy do illiberal citizens/parties oppose and which ones do they endorse? What are the </a:t>
            </a:r>
            <a:r>
              <a:rPr lang="en-GB" b="1"/>
              <a:t>different ideological combinations of political preferences</a:t>
            </a:r>
            <a:r>
              <a:rPr lang="en-GB"/>
              <a:t> and how are they related to the support and opposition to liberal democracy?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Can one identify inter-/</a:t>
            </a:r>
            <a:r>
              <a:rPr lang="en-GB" b="1"/>
              <a:t>trans-national impact on illiberalism </a:t>
            </a:r>
            <a:r>
              <a:rPr lang="en-GB"/>
              <a:t>and its particular models? </a:t>
            </a:r>
          </a:p>
          <a:p>
            <a:pPr marL="514350" indent="-514350">
              <a:buFont typeface="+mj-lt"/>
              <a:buAutoNum type="arabicPeriod"/>
            </a:pPr>
            <a:r>
              <a:rPr lang="en-GB"/>
              <a:t>How can liberal democratic actors </a:t>
            </a:r>
            <a:r>
              <a:rPr lang="en-GB" b="1"/>
              <a:t>respond to illiberal challenges</a:t>
            </a:r>
            <a:r>
              <a:rPr lang="en-GB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66462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66C5C583-AB6F-460D-3FF9-A405969174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0DC9AE-5B1B-A795-7405-80EF38190D71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Levels of analysis</a:t>
            </a:r>
            <a:endParaRPr lang="pl-PL" sz="32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328855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Ideas</a:t>
            </a:r>
            <a:r>
              <a:rPr lang="pl-PL"/>
              <a:t> and </a:t>
            </a:r>
            <a:r>
              <a:rPr lang="pl-PL" err="1"/>
              <a:t>ideology</a:t>
            </a:r>
            <a:r>
              <a:rPr lang="pl-PL"/>
              <a:t> </a:t>
            </a:r>
            <a:r>
              <a:rPr lang="pl-PL" err="1"/>
              <a:t>itself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political</a:t>
            </a:r>
            <a:r>
              <a:rPr lang="pl-PL"/>
              <a:t> </a:t>
            </a:r>
            <a:r>
              <a:rPr lang="pl-PL" err="1"/>
              <a:t>operationalization</a:t>
            </a:r>
            <a:r>
              <a:rPr lang="pl-PL"/>
              <a:t> of </a:t>
            </a:r>
            <a:r>
              <a:rPr lang="pl-PL" err="1"/>
              <a:t>ideology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social-political</a:t>
            </a:r>
            <a:r>
              <a:rPr lang="pl-PL"/>
              <a:t> </a:t>
            </a:r>
            <a:r>
              <a:rPr lang="pl-PL" err="1"/>
              <a:t>response</a:t>
            </a:r>
            <a:r>
              <a:rPr lang="pl-PL"/>
              <a:t> to </a:t>
            </a:r>
            <a:r>
              <a:rPr lang="pl-PL" err="1"/>
              <a:t>ideologies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The </a:t>
            </a:r>
            <a:r>
              <a:rPr lang="pl-PL" err="1"/>
              <a:t>nature</a:t>
            </a:r>
            <a:r>
              <a:rPr lang="pl-PL"/>
              <a:t> of party-</a:t>
            </a:r>
            <a:r>
              <a:rPr lang="pl-PL" err="1"/>
              <a:t>voter</a:t>
            </a:r>
            <a:r>
              <a:rPr lang="pl-PL"/>
              <a:t> </a:t>
            </a:r>
            <a:r>
              <a:rPr lang="pl-PL" err="1"/>
              <a:t>linkages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pl-PL"/>
          </a:p>
          <a:p>
            <a:pPr marL="0" indent="0">
              <a:buNone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7876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818B2C-A5FA-9CB5-E1BF-9A276DBC540F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A054B418-CA03-92A0-FC7D-642F2C277B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</a:rPr>
              <a:t>Central issues</a:t>
            </a: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128965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democratic</a:t>
            </a:r>
            <a:r>
              <a:rPr lang="pl-PL"/>
              <a:t> </a:t>
            </a:r>
            <a:r>
              <a:rPr lang="pl-PL" err="1"/>
              <a:t>procedures</a:t>
            </a:r>
            <a:r>
              <a:rPr lang="pl-PL"/>
              <a:t> and </a:t>
            </a:r>
            <a:r>
              <a:rPr lang="pl-PL" err="1"/>
              <a:t>liberal</a:t>
            </a:r>
            <a:r>
              <a:rPr lang="pl-PL"/>
              <a:t> </a:t>
            </a:r>
            <a:r>
              <a:rPr lang="pl-PL" err="1"/>
              <a:t>democratic</a:t>
            </a:r>
            <a:r>
              <a:rPr lang="pl-PL"/>
              <a:t> </a:t>
            </a:r>
            <a:r>
              <a:rPr lang="pl-PL" err="1"/>
              <a:t>values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ideological</a:t>
            </a:r>
            <a:r>
              <a:rPr lang="pl-PL"/>
              <a:t> </a:t>
            </a:r>
            <a:r>
              <a:rPr lang="pl-PL" err="1"/>
              <a:t>underpinnings</a:t>
            </a:r>
            <a:r>
              <a:rPr lang="pl-PL"/>
              <a:t> of </a:t>
            </a:r>
            <a:r>
              <a:rPr lang="pl-PL" err="1"/>
              <a:t>illiberalism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illiberal</a:t>
            </a:r>
            <a:r>
              <a:rPr lang="pl-PL"/>
              <a:t> </a:t>
            </a:r>
            <a:r>
              <a:rPr lang="pl-PL" err="1"/>
              <a:t>citizens</a:t>
            </a:r>
            <a:r>
              <a:rPr lang="pl-PL"/>
              <a:t>' </a:t>
            </a:r>
            <a:r>
              <a:rPr lang="pl-PL" err="1"/>
              <a:t>psychological</a:t>
            </a:r>
            <a:r>
              <a:rPr lang="pl-PL"/>
              <a:t> </a:t>
            </a:r>
            <a:r>
              <a:rPr lang="pl-PL" err="1"/>
              <a:t>traits</a:t>
            </a:r>
            <a:r>
              <a:rPr lang="pl-PL"/>
              <a:t> and </a:t>
            </a:r>
            <a:r>
              <a:rPr lang="pl-PL" err="1"/>
              <a:t>attitudes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illiberal</a:t>
            </a:r>
            <a:r>
              <a:rPr lang="pl-PL"/>
              <a:t> </a:t>
            </a:r>
            <a:r>
              <a:rPr lang="pl-PL" err="1"/>
              <a:t>practices</a:t>
            </a:r>
            <a:r>
              <a:rPr lang="pl-PL"/>
              <a:t> and </a:t>
            </a:r>
            <a:r>
              <a:rPr lang="pl-PL" err="1"/>
              <a:t>policies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international</a:t>
            </a:r>
            <a:r>
              <a:rPr lang="pl-PL"/>
              <a:t> relations, </a:t>
            </a:r>
            <a:r>
              <a:rPr lang="pl-PL" err="1"/>
              <a:t>geopolitics</a:t>
            </a:r>
            <a:r>
              <a:rPr lang="pl-PL"/>
              <a:t>, and </a:t>
            </a:r>
            <a:r>
              <a:rPr lang="pl-PL" err="1"/>
              <a:t>supra-national</a:t>
            </a:r>
            <a:r>
              <a:rPr lang="pl-PL"/>
              <a:t> </a:t>
            </a:r>
            <a:r>
              <a:rPr lang="pl-PL" err="1"/>
              <a:t>institutions</a:t>
            </a:r>
            <a:r>
              <a:rPr lang="pl-PL"/>
              <a:t> 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democratic</a:t>
            </a:r>
            <a:r>
              <a:rPr lang="pl-PL"/>
              <a:t> </a:t>
            </a:r>
            <a:r>
              <a:rPr lang="pl-PL" err="1"/>
              <a:t>resilience</a:t>
            </a:r>
            <a:r>
              <a:rPr lang="pl-PL"/>
              <a:t> to </a:t>
            </a:r>
            <a:r>
              <a:rPr lang="pl-PL" err="1"/>
              <a:t>autocratization</a:t>
            </a:r>
            <a:r>
              <a:rPr lang="pl-PL"/>
              <a:t> / </a:t>
            </a:r>
            <a:r>
              <a:rPr lang="pl-PL" err="1"/>
              <a:t>responses</a:t>
            </a:r>
            <a:r>
              <a:rPr lang="pl-PL"/>
              <a:t> to </a:t>
            </a:r>
            <a:r>
              <a:rPr lang="pl-PL" err="1"/>
              <a:t>illiberal</a:t>
            </a:r>
            <a:r>
              <a:rPr lang="pl-PL"/>
              <a:t> </a:t>
            </a:r>
            <a:r>
              <a:rPr lang="pl-PL" err="1"/>
              <a:t>challenges</a:t>
            </a:r>
            <a:r>
              <a:rPr lang="pl-PL"/>
              <a:t> </a:t>
            </a:r>
          </a:p>
          <a:p>
            <a:pPr marL="0" indent="0">
              <a:buNone/>
            </a:pPr>
            <a:endParaRPr lang="pl-PL"/>
          </a:p>
          <a:p>
            <a:pPr marL="0" indent="0">
              <a:buNone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6132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8D8EF635-7233-764D-9087-323CC48AF4B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3" b="8313"/>
          <a:stretch>
            <a:fillRect/>
          </a:stretch>
        </p:blipFill>
        <p:spPr/>
      </p:pic>
      <p:sp>
        <p:nvSpPr>
          <p:cNvPr id="7" name="TextBox 6"/>
          <p:cNvSpPr txBox="1"/>
          <p:nvPr/>
        </p:nvSpPr>
        <p:spPr>
          <a:xfrm>
            <a:off x="1990143" y="3182135"/>
            <a:ext cx="17427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AUTHLIB</a:t>
            </a:r>
          </a:p>
          <a:p>
            <a:pPr algn="l"/>
            <a:br>
              <a:rPr lang="en-US" sz="2000">
                <a:solidFill>
                  <a:srgbClr val="FFFFFF"/>
                </a:solidFill>
              </a:rPr>
            </a:br>
            <a:r>
              <a:rPr lang="en-US" sz="1600">
                <a:solidFill>
                  <a:srgbClr val="FFFFFF"/>
                </a:solidFill>
              </a:rPr>
              <a:t>Neo-Authoritarianisms in Europe and the Liberal Democratic Response</a:t>
            </a:r>
            <a:endParaRPr lang="en-GB" sz="160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8" name="Text Placeholder 10"/>
          <p:cNvSpPr txBox="1">
            <a:spLocks/>
          </p:cNvSpPr>
          <p:nvPr/>
        </p:nvSpPr>
        <p:spPr>
          <a:xfrm>
            <a:off x="4229996" y="3209529"/>
            <a:ext cx="7962004" cy="190831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>
                <a:solidFill>
                  <a:schemeClr val="bg1"/>
                </a:solidFill>
                <a:latin typeface="Avenir Book"/>
              </a:rPr>
              <a:t>WP4 Survey-based data-collection and experiments on public attitudes </a:t>
            </a: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r>
              <a:rPr lang="en-GB" sz="1800" b="1">
                <a:solidFill>
                  <a:schemeClr val="bg1"/>
                </a:solidFill>
                <a:latin typeface="Avenir Book"/>
              </a:rPr>
              <a:t>​</a:t>
            </a: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r>
              <a:rPr lang="en-GB" sz="1800" b="1">
                <a:solidFill>
                  <a:schemeClr val="bg1"/>
                </a:solidFill>
                <a:latin typeface="Avenir Book"/>
              </a:rPr>
              <a:t> Lead SWPS</a:t>
            </a: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br>
              <a:rPr lang="en-GB" sz="1800" b="1">
                <a:solidFill>
                  <a:schemeClr val="bg1"/>
                </a:solidFill>
                <a:latin typeface="Avenir Book"/>
              </a:rPr>
            </a:br>
            <a:r>
              <a:rPr lang="en-GB" sz="1800" b="1">
                <a:solidFill>
                  <a:schemeClr val="bg1"/>
                </a:solidFill>
                <a:latin typeface="Avenir Book"/>
              </a:rPr>
              <a:t>M7-25 (April 2023 – October 2024)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981462" y="2474844"/>
            <a:ext cx="0" cy="1908313"/>
          </a:xfrm>
          <a:prstGeom prst="line">
            <a:avLst/>
          </a:prstGeom>
          <a:ln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E88F6A5-3FFA-BF43-8557-EF96CC35F0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91" y="1740158"/>
            <a:ext cx="1412858" cy="146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1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9EC183-1CFF-F8D8-65C1-124484D6202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CFF667FD-DE16-9F7D-5BEC-F9F436953D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 b="1">
                <a:solidFill>
                  <a:schemeClr val="bg1"/>
                </a:solidFill>
              </a:rPr>
              <a:t>Five </a:t>
            </a:r>
            <a:r>
              <a:rPr lang="pl-PL" b="1" err="1">
                <a:solidFill>
                  <a:schemeClr val="bg1"/>
                </a:solidFill>
              </a:rPr>
              <a:t>deliverables</a:t>
            </a:r>
            <a:r>
              <a:rPr lang="pl-PL" b="1">
                <a:solidFill>
                  <a:schemeClr val="bg1"/>
                </a:solidFill>
              </a:rPr>
              <a:t> &amp; one </a:t>
            </a:r>
            <a:r>
              <a:rPr lang="pl-PL" b="1" err="1">
                <a:solidFill>
                  <a:schemeClr val="bg1"/>
                </a:solidFill>
              </a:rPr>
              <a:t>milestone</a:t>
            </a:r>
            <a:r>
              <a:rPr lang="pl-PL" b="1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16" y="1722438"/>
            <a:ext cx="10808368" cy="51355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</a:rPr>
              <a:t>D4.1 </a:t>
            </a:r>
            <a:r>
              <a:rPr lang="en-US"/>
              <a:t>An </a:t>
            </a:r>
            <a:r>
              <a:rPr lang="en-US" b="1"/>
              <a:t>analysis</a:t>
            </a:r>
            <a:r>
              <a:rPr lang="en-US"/>
              <a:t> of the relationship between socio-demographic attributes and the propensity to support particular types of neo-authoritarianism </a:t>
            </a:r>
            <a:r>
              <a:rPr lang="pl-PL" noProof="1">
                <a:latin typeface="Corbel" panose="020B0503020204020204" pitchFamily="34" charset="0"/>
              </a:rPr>
              <a:t>M24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D4.2 </a:t>
            </a:r>
            <a:r>
              <a:rPr lang="en-US"/>
              <a:t>A </a:t>
            </a:r>
            <a:r>
              <a:rPr lang="en-US" b="1"/>
              <a:t>data set </a:t>
            </a:r>
            <a:r>
              <a:rPr lang="en-US"/>
              <a:t>that integrates information on the social characteristics of neo - authoritarianism (based on previous surveys – ESS, ISSP, EES, EVS) with the ideological configurations that emerged from WP3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M24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D4.3 A </a:t>
            </a: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paper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 including a typology on the distribution of the types of illiberal orientations across the EU Member States M25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D4.4 </a:t>
            </a:r>
            <a:r>
              <a:rPr lang="en-US"/>
              <a:t>A </a:t>
            </a:r>
            <a:r>
              <a:rPr lang="en-US" b="1"/>
              <a:t>data set </a:t>
            </a:r>
            <a:r>
              <a:rPr lang="en-US"/>
              <a:t>on the reactions of citizens in experimental setting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M25</a:t>
            </a:r>
          </a:p>
          <a:p>
            <a:pPr marL="0" indent="0">
              <a:buNone/>
            </a:pP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D4.5 </a:t>
            </a:r>
            <a:r>
              <a:rPr lang="en-US"/>
              <a:t>A </a:t>
            </a:r>
            <a:r>
              <a:rPr lang="en-US" b="1"/>
              <a:t>paper</a:t>
            </a:r>
            <a:r>
              <a:rPr lang="en-US"/>
              <a:t> on the survey experiments, focusing on factors shaping attitudes towards liberal democracy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M25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Milestone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 – </a:t>
            </a:r>
            <a:r>
              <a:rPr lang="en-US" b="1" err="1"/>
              <a:t>Finalisation</a:t>
            </a:r>
            <a:r>
              <a:rPr lang="en-US" b="1"/>
              <a:t> of the survey-based data collection </a:t>
            </a:r>
            <a:r>
              <a:rPr lang="pl-PL" noProof="1">
                <a:latin typeface="Corbel" panose="020B0503020204020204" pitchFamily="34" charset="0"/>
                <a:sym typeface="Wingdings" panose="05000000000000000000" pitchFamily="2" charset="2"/>
              </a:rPr>
              <a:t>M25</a:t>
            </a:r>
          </a:p>
        </p:txBody>
      </p:sp>
    </p:spTree>
    <p:extLst>
      <p:ext uri="{BB962C8B-B14F-4D97-AF65-F5344CB8AC3E}">
        <p14:creationId xmlns:p14="http://schemas.microsoft.com/office/powerpoint/2010/main" val="60483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2BF640-41B8-611D-D70F-6EC3AB555A7E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3F796932-7E32-3522-37AF-1BB0831AE1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WP4 Main activities in M7-15</a:t>
            </a:r>
            <a:endParaRPr lang="pl-PL" sz="32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2107066"/>
            <a:ext cx="11567160" cy="475093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err="1"/>
              <a:t>Compilation</a:t>
            </a:r>
            <a:r>
              <a:rPr lang="pl-PL"/>
              <a:t> of </a:t>
            </a:r>
            <a:r>
              <a:rPr lang="pl-PL" err="1"/>
              <a:t>existing</a:t>
            </a:r>
            <a:r>
              <a:rPr lang="pl-PL"/>
              <a:t> </a:t>
            </a:r>
            <a:r>
              <a:rPr lang="pl-PL" err="1"/>
              <a:t>studies</a:t>
            </a:r>
            <a:r>
              <a:rPr lang="pl-PL"/>
              <a:t>, </a:t>
            </a:r>
            <a:r>
              <a:rPr lang="pl-PL" err="1"/>
              <a:t>measures</a:t>
            </a:r>
            <a:r>
              <a:rPr lang="pl-PL"/>
              <a:t>, and </a:t>
            </a:r>
            <a:r>
              <a:rPr lang="pl-PL" err="1"/>
              <a:t>indicators</a:t>
            </a:r>
            <a:r>
              <a:rPr lang="pl-PL"/>
              <a:t> </a:t>
            </a:r>
            <a:r>
              <a:rPr lang="pl-PL" err="1"/>
              <a:t>relevant</a:t>
            </a:r>
            <a:r>
              <a:rPr lang="pl-PL"/>
              <a:t> to the AUTHLIB </a:t>
            </a:r>
            <a:r>
              <a:rPr lang="pl-PL" err="1"/>
              <a:t>survey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/>
              <a:t>Design of the </a:t>
            </a:r>
            <a:r>
              <a:rPr lang="pl-PL" err="1"/>
              <a:t>survey</a:t>
            </a:r>
            <a:r>
              <a:rPr lang="pl-PL"/>
              <a:t> </a:t>
            </a:r>
            <a:r>
              <a:rPr lang="pl-PL" err="1"/>
              <a:t>questionnaire</a:t>
            </a:r>
            <a:endParaRPr lang="pl-PL"/>
          </a:p>
          <a:p>
            <a:pPr marL="514350" indent="-514350">
              <a:buFont typeface="+mj-lt"/>
              <a:buAutoNum type="arabicPeriod"/>
            </a:pPr>
            <a:r>
              <a:rPr lang="pl-PL"/>
              <a:t>Design of the </a:t>
            </a:r>
            <a:r>
              <a:rPr lang="pl-PL" err="1"/>
              <a:t>survey-embedded</a:t>
            </a:r>
            <a:r>
              <a:rPr lang="pl-PL"/>
              <a:t> </a:t>
            </a:r>
            <a:r>
              <a:rPr lang="pl-PL" err="1"/>
              <a:t>conjoint</a:t>
            </a:r>
            <a:r>
              <a:rPr lang="pl-PL"/>
              <a:t> </a:t>
            </a:r>
            <a:r>
              <a:rPr lang="pl-PL" err="1"/>
              <a:t>experiment</a:t>
            </a:r>
            <a:r>
              <a:rPr lang="pl-PL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pl-PL" err="1"/>
              <a:t>Preparation</a:t>
            </a:r>
            <a:r>
              <a:rPr lang="pl-PL"/>
              <a:t> of the </a:t>
            </a:r>
            <a:r>
              <a:rPr lang="pl-PL" err="1"/>
              <a:t>administration</a:t>
            </a:r>
            <a:r>
              <a:rPr lang="pl-PL"/>
              <a:t> of the tender </a:t>
            </a:r>
            <a:r>
              <a:rPr lang="pl-PL" err="1"/>
              <a:t>process</a:t>
            </a:r>
            <a:r>
              <a:rPr lang="pl-P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4057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290199-5739-5DB6-FA2D-B1B0AD702F69}"/>
              </a:ext>
            </a:extLst>
          </p:cNvPr>
          <p:cNvSpPr/>
          <p:nvPr/>
        </p:nvSpPr>
        <p:spPr>
          <a:xfrm flipV="1">
            <a:off x="0" y="1551008"/>
            <a:ext cx="7521791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Picture Placeholder 12">
            <a:extLst>
              <a:ext uri="{FF2B5EF4-FFF2-40B4-BE49-F238E27FC236}">
                <a16:creationId xmlns:a16="http://schemas.microsoft.com/office/drawing/2014/main" id="{09BC4BCB-246D-66FD-02EE-4C599CC430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0"/>
            <a:ext cx="7521791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1C22B75-4F1A-491A-9543-B958A7CA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7863"/>
          </a:xfrm>
        </p:spPr>
        <p:txBody>
          <a:bodyPr>
            <a:normAutofit fontScale="90000"/>
          </a:bodyPr>
          <a:lstStyle/>
          <a:p>
            <a:r>
              <a:rPr lang="pl-PL" b="1" err="1">
                <a:solidFill>
                  <a:schemeClr val="bg1"/>
                </a:solidFill>
              </a:rPr>
              <a:t>Key</a:t>
            </a:r>
            <a:r>
              <a:rPr lang="pl-PL" b="1">
                <a:solidFill>
                  <a:schemeClr val="bg1"/>
                </a:solidFill>
              </a:rPr>
              <a:t> </a:t>
            </a:r>
            <a:r>
              <a:rPr lang="pl-PL" b="1" err="1">
                <a:solidFill>
                  <a:schemeClr val="bg1"/>
                </a:solidFill>
              </a:rPr>
              <a:t>meetings</a:t>
            </a:r>
            <a:endParaRPr lang="pl-PL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358221-1950-4C72-BBE8-5A20865A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9" y="1916133"/>
            <a:ext cx="6401773" cy="4819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Hybrid internal workshop held on March 29, 2023 on-site at the University of Vienna and online</a:t>
            </a: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pl-PL" noProof="1">
              <a:latin typeface="Corbel" panose="020B0503020204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l-PL" b="1" noProof="1">
                <a:latin typeface="Corbel" panose="020B0503020204020204" pitchFamily="34" charset="0"/>
                <a:sym typeface="Wingdings" panose="05000000000000000000" pitchFamily="2" charset="2"/>
              </a:rPr>
              <a:t>Meeting at the ECPR General Conference (September 4-8, 2023)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595D5-16E4-DD82-2B7D-2C7356851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791" y="866474"/>
            <a:ext cx="4233530" cy="2841169"/>
          </a:xfrm>
          <a:prstGeom prst="rect">
            <a:avLst/>
          </a:prstGeom>
        </p:spPr>
      </p:pic>
      <p:pic>
        <p:nvPicPr>
          <p:cNvPr id="3074" name="Picture 2" descr="AUTHLIB Team at ECPR">
            <a:extLst>
              <a:ext uri="{FF2B5EF4-FFF2-40B4-BE49-F238E27FC236}">
                <a16:creationId xmlns:a16="http://schemas.microsoft.com/office/drawing/2014/main" id="{7E3ABDD6-2ED0-50C7-5758-779CDAFD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791" y="3767138"/>
            <a:ext cx="4233530" cy="284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285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DF5BEC-4A22-F6F5-3D22-848DEA9EA28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F8D39756-5D54-C8F1-617D-6EED1AF3A2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41" y="365125"/>
            <a:ext cx="11192718" cy="954389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Compilation of existing studies, measures, and indicators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741941"/>
            <a:ext cx="11567160" cy="4750934"/>
          </a:xfrm>
        </p:spPr>
        <p:txBody>
          <a:bodyPr>
            <a:normAutofit/>
          </a:bodyPr>
          <a:lstStyle/>
          <a:p>
            <a:r>
              <a:rPr lang="en-GB"/>
              <a:t>Relevant measures and indicators from the European Social Survey (</a:t>
            </a:r>
            <a:r>
              <a:rPr lang="en-GB" b="1"/>
              <a:t>ESS</a:t>
            </a:r>
            <a:r>
              <a:rPr lang="en-GB"/>
              <a:t>), World Values Survey (</a:t>
            </a:r>
            <a:r>
              <a:rPr lang="en-GB" b="1"/>
              <a:t>WVS</a:t>
            </a:r>
            <a:r>
              <a:rPr lang="en-GB"/>
              <a:t>) and European Values Survey (</a:t>
            </a:r>
            <a:r>
              <a:rPr lang="en-GB" b="1"/>
              <a:t>EVS</a:t>
            </a:r>
            <a:r>
              <a:rPr lang="en-GB"/>
              <a:t>), International Social Survey Programme (</a:t>
            </a:r>
            <a:r>
              <a:rPr lang="en-GB" b="1"/>
              <a:t>ISSP</a:t>
            </a:r>
            <a:r>
              <a:rPr lang="en-GB"/>
              <a:t>), Comparative Study of Electoral Systems (</a:t>
            </a:r>
            <a:r>
              <a:rPr lang="en-GB" b="1"/>
              <a:t>CSES</a:t>
            </a:r>
            <a:r>
              <a:rPr lang="en-GB"/>
              <a:t>), </a:t>
            </a:r>
            <a:r>
              <a:rPr lang="en-GB" b="1"/>
              <a:t>Americas Barometer</a:t>
            </a:r>
            <a:r>
              <a:rPr lang="en-GB"/>
              <a:t>,</a:t>
            </a:r>
            <a:r>
              <a:rPr lang="en-GB" b="1"/>
              <a:t> </a:t>
            </a:r>
            <a:r>
              <a:rPr lang="en-GB"/>
              <a:t>and other sources were selected after assessing their suitability for AUTHLIB Survey goals and utilization in the extant literature.</a:t>
            </a:r>
          </a:p>
          <a:p>
            <a:r>
              <a:rPr lang="en-GB"/>
              <a:t>Several batteries were analysed using </a:t>
            </a:r>
            <a:r>
              <a:rPr lang="en-GB" b="1"/>
              <a:t>statistical methods </a:t>
            </a:r>
            <a:r>
              <a:rPr lang="en-GB"/>
              <a:t>such as Principal Factor Analysis and pairwise correlations to assess their </a:t>
            </a:r>
            <a:r>
              <a:rPr lang="en-GB" b="1"/>
              <a:t>consistency and relevance for the project</a:t>
            </a:r>
            <a:r>
              <a:rPr lang="en-GB"/>
              <a:t>.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390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7009DB-BC9B-68C8-5EB8-364BCEB3D9BC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A49B49B2-2A1A-50D8-B327-AFAF24456D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906"/>
            <a:ext cx="10515600" cy="732155"/>
          </a:xfrm>
        </p:spPr>
        <p:txBody>
          <a:bodyPr>
            <a:noAutofit/>
          </a:bodyPr>
          <a:lstStyle/>
          <a:p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Design of the survey questionnaire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19429"/>
            <a:ext cx="11567160" cy="4808517"/>
          </a:xfrm>
        </p:spPr>
        <p:txBody>
          <a:bodyPr>
            <a:normAutofit/>
          </a:bodyPr>
          <a:lstStyle/>
          <a:p>
            <a:r>
              <a:rPr lang="en-GB" b="1" dirty="0"/>
              <a:t>Several iterations </a:t>
            </a:r>
            <a:r>
              <a:rPr lang="en-GB" dirty="0"/>
              <a:t>of the questionnaire</a:t>
            </a:r>
            <a:endParaRPr lang="en-GB" strike="sngStrike" dirty="0"/>
          </a:p>
          <a:p>
            <a:r>
              <a:rPr lang="en-GB" b="1" dirty="0"/>
              <a:t>Choice of existing measures </a:t>
            </a:r>
            <a:r>
              <a:rPr lang="en-GB" dirty="0"/>
              <a:t>and </a:t>
            </a:r>
            <a:r>
              <a:rPr lang="en-GB" b="1" dirty="0"/>
              <a:t>creation new ones</a:t>
            </a:r>
            <a:endParaRPr lang="en-GB" dirty="0"/>
          </a:p>
          <a:p>
            <a:r>
              <a:rPr lang="en-GB" dirty="0"/>
              <a:t>Selection and elimination of items due to the </a:t>
            </a:r>
            <a:r>
              <a:rPr lang="en-GB" b="1" dirty="0"/>
              <a:t>time constraints in administering the online survey </a:t>
            </a:r>
            <a:r>
              <a:rPr lang="en-GB" dirty="0"/>
              <a:t>(max. 25 minutes, including the experimental module).</a:t>
            </a:r>
            <a:endParaRPr lang="en-GB" strike="sngStrike" dirty="0"/>
          </a:p>
          <a:p>
            <a:r>
              <a:rPr lang="en-GB" dirty="0"/>
              <a:t>The questionnaire is </a:t>
            </a:r>
            <a:r>
              <a:rPr lang="en-GB" b="1" dirty="0"/>
              <a:t>expected to be finalised by the end of March 2024</a:t>
            </a:r>
            <a:r>
              <a:rPr lang="en-GB" dirty="0"/>
              <a:t>. It consists of </a:t>
            </a:r>
            <a:r>
              <a:rPr lang="en-GB" b="1" dirty="0"/>
              <a:t>41 questions </a:t>
            </a:r>
            <a:r>
              <a:rPr lang="en-GB" dirty="0"/>
              <a:t>(some of them with several items in batteries)</a:t>
            </a:r>
          </a:p>
          <a:p>
            <a:r>
              <a:rPr lang="en-GB" dirty="0"/>
              <a:t>In total, this gives </a:t>
            </a:r>
            <a:r>
              <a:rPr lang="en-GB" b="1" dirty="0"/>
              <a:t>82 individual question items</a:t>
            </a:r>
            <a:r>
              <a:rPr lang="en-GB" dirty="0"/>
              <a:t>, out of which </a:t>
            </a:r>
            <a:r>
              <a:rPr lang="en-GB" b="1" dirty="0"/>
              <a:t>17 are entirely new</a:t>
            </a:r>
            <a:r>
              <a:rPr lang="en-GB" dirty="0"/>
              <a:t>, with the remaining questions consisting of reused or modified versions of existing question batteries.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45488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61548E-8EC5-EB9E-03A0-2BEF918D2186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BA12B377-131D-B9A2-1599-E4BA245156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663"/>
            <a:ext cx="10515600" cy="732155"/>
          </a:xfrm>
        </p:spPr>
        <p:txBody>
          <a:bodyPr>
            <a:noAutofit/>
          </a:bodyPr>
          <a:lstStyle/>
          <a:p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Design of the survey-embedded conjoint experiment 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75236"/>
            <a:ext cx="11567160" cy="5294275"/>
          </a:xfrm>
        </p:spPr>
        <p:txBody>
          <a:bodyPr>
            <a:normAutofit/>
          </a:bodyPr>
          <a:lstStyle/>
          <a:p>
            <a:r>
              <a:rPr lang="en-GB" dirty="0"/>
              <a:t>Discussions on statistical power, the optimal number of iterations per participant, and the number and levels of attributes. </a:t>
            </a:r>
          </a:p>
          <a:p>
            <a:r>
              <a:rPr lang="en-GB" dirty="0"/>
              <a:t>Key attribute: </a:t>
            </a:r>
            <a:r>
              <a:rPr lang="en-GB" b="1" dirty="0"/>
              <a:t>varying levels of populism, illiberalism, and authoritarianism </a:t>
            </a:r>
            <a:r>
              <a:rPr lang="en-GB" dirty="0"/>
              <a:t>in a party’s policy implementation, together with its </a:t>
            </a:r>
            <a:r>
              <a:rPr lang="en-GB" b="1" dirty="0"/>
              <a:t>positions on cultural and economic issues</a:t>
            </a:r>
          </a:p>
          <a:p>
            <a:r>
              <a:rPr lang="en-GB" dirty="0"/>
              <a:t>Three iterations of three separate forced choice selections to cover PIA violations of: </a:t>
            </a:r>
            <a:r>
              <a:rPr lang="en-GB" b="1" dirty="0"/>
              <a:t>democratic principle of rule of law, free and fair elections, and civil liberties</a:t>
            </a:r>
            <a:r>
              <a:rPr lang="en-GB" dirty="0"/>
              <a:t>. </a:t>
            </a:r>
          </a:p>
          <a:p>
            <a:r>
              <a:rPr lang="en-GB" dirty="0"/>
              <a:t>We are finalising the design and refining the specific wording</a:t>
            </a:r>
          </a:p>
          <a:p>
            <a:r>
              <a:rPr lang="en-GB" dirty="0"/>
              <a:t>Total number of conjoint forced choices is </a:t>
            </a:r>
            <a:r>
              <a:rPr lang="en-GB" b="1" dirty="0"/>
              <a:t>9 </a:t>
            </a:r>
            <a:r>
              <a:rPr lang="en-GB" dirty="0"/>
              <a:t>and the estimated time </a:t>
            </a:r>
            <a:r>
              <a:rPr lang="en-GB" b="1" dirty="0"/>
              <a:t>7 minutes</a:t>
            </a:r>
          </a:p>
        </p:txBody>
      </p:sp>
    </p:spTree>
    <p:extLst>
      <p:ext uri="{BB962C8B-B14F-4D97-AF65-F5344CB8AC3E}">
        <p14:creationId xmlns:p14="http://schemas.microsoft.com/office/powerpoint/2010/main" val="34510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19B537-1205-90BA-9F0D-31BD3B55B20F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EBFF6D2C-9EF8-23F2-624E-2A4F240C15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10" y="293800"/>
            <a:ext cx="10515600" cy="732155"/>
          </a:xfrm>
        </p:spPr>
        <p:txBody>
          <a:bodyPr>
            <a:noAutofit/>
          </a:bodyPr>
          <a:lstStyle/>
          <a:p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Preparation of the administration of the tender process ​</a:t>
            </a:r>
            <a:br>
              <a:rPr lang="en-US" sz="36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3600" b="1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30" y="1993189"/>
            <a:ext cx="11567160" cy="4615956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SWPS official tender procedure 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ill be announced in public information bulletin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 at least 14 days of period for submitting bids</a:t>
            </a:r>
            <a:r>
              <a:rPr lang="en-GB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00"/>
                </a:solidFill>
              </a:rPr>
              <a:t>Technical requirements</a:t>
            </a:r>
            <a:r>
              <a:rPr lang="en-GB" dirty="0">
                <a:solidFill>
                  <a:srgbClr val="000000"/>
                </a:solidFill>
              </a:rPr>
              <a:t>: </a:t>
            </a:r>
          </a:p>
          <a:p>
            <a:pPr lvl="1" fontAlgn="base"/>
            <a:r>
              <a:rPr lang="en-GB" dirty="0">
                <a:solidFill>
                  <a:srgbClr val="000000"/>
                </a:solidFill>
              </a:rPr>
              <a:t>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echnical ability to conduct the study and prior experience in conducting cross-country studies</a:t>
            </a:r>
            <a:r>
              <a:rPr lang="en-GB" dirty="0">
                <a:solidFill>
                  <a:srgbClr val="000000"/>
                </a:solidFill>
              </a:rPr>
              <a:t>;</a:t>
            </a:r>
          </a:p>
          <a:p>
            <a:pPr lvl="1" fontAlgn="base"/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Experienced project manager; 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​</a:t>
            </a:r>
            <a:endParaRPr lang="en-GB" sz="4000" b="0" i="0" dirty="0">
              <a:solidFill>
                <a:srgbClr val="000000"/>
              </a:solidFill>
              <a:effectLst/>
            </a:endParaRPr>
          </a:p>
          <a:p>
            <a:pPr lvl="1" fontAlgn="base"/>
            <a:r>
              <a:rPr lang="en-GB" dirty="0">
                <a:solidFill>
                  <a:srgbClr val="000000"/>
                </a:solidFill>
              </a:rPr>
              <a:t>A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ccess to panels ≥ 10,000 individuals in each of the countries of study; 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​</a:t>
            </a:r>
            <a:endParaRPr lang="en-GB" sz="4000" b="0" i="0" dirty="0">
              <a:solidFill>
                <a:srgbClr val="000000"/>
              </a:solidFill>
              <a:effectLst/>
            </a:endParaRPr>
          </a:p>
          <a:p>
            <a:pPr lvl="1" fontAlgn="base"/>
            <a:r>
              <a:rPr lang="en-GB" dirty="0">
                <a:solidFill>
                  <a:srgbClr val="000000"/>
                </a:solidFill>
              </a:rPr>
              <a:t>A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ccess to survey networks  in Poland, Czech Republic and Hungary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​ - CAPI complement to CAWI to increase representativeness;</a:t>
            </a:r>
            <a:endParaRPr lang="en-GB" sz="40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rgbClr val="000000"/>
                </a:solidFill>
              </a:rPr>
              <a:t>Selection criteria</a:t>
            </a:r>
            <a:r>
              <a:rPr lang="en-GB" dirty="0">
                <a:solidFill>
                  <a:srgbClr val="000000"/>
                </a:solidFill>
              </a:rPr>
              <a:t>: not only economic, also related to the expected quality of the gathered data</a:t>
            </a: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17785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43F624-3804-B24C-8B83-D20BD3ECDBC3}"/>
              </a:ext>
            </a:extLst>
          </p:cNvPr>
          <p:cNvSpPr/>
          <p:nvPr/>
        </p:nvSpPr>
        <p:spPr>
          <a:xfrm flipV="1">
            <a:off x="0" y="1551009"/>
            <a:ext cx="12192000" cy="12422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Placeholder 12">
            <a:extLst>
              <a:ext uri="{FF2B5EF4-FFF2-40B4-BE49-F238E27FC236}">
                <a16:creationId xmlns:a16="http://schemas.microsoft.com/office/drawing/2014/main" id="{5D5DD793-62DF-CDCB-B3CA-11272B6DAE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10" b="30565"/>
          <a:stretch/>
        </p:blipFill>
        <p:spPr>
          <a:xfrm>
            <a:off x="0" y="1"/>
            <a:ext cx="12192000" cy="1551008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17342F8F-5D22-4DFD-AA8A-543FD58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305"/>
            <a:ext cx="10515600" cy="732155"/>
          </a:xfrm>
        </p:spPr>
        <p:txBody>
          <a:bodyPr>
            <a:normAutofit fontScale="90000"/>
          </a:bodyPr>
          <a:lstStyle/>
          <a:p>
            <a:br>
              <a:rPr lang="en-US" sz="2800" b="1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r>
              <a:rPr lang="en-US" sz="4000" b="1">
                <a:solidFill>
                  <a:schemeClr val="bg1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WP4: STEPS AHEAD</a:t>
            </a:r>
            <a:br>
              <a:rPr lang="en-US" sz="2800" b="1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</a:br>
            <a:endParaRPr lang="pl-PL" sz="2800" b="1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A8FB84-B471-41D7-A50A-03633E34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426028"/>
            <a:ext cx="11567160" cy="5431971"/>
          </a:xfrm>
        </p:spPr>
        <p:txBody>
          <a:bodyPr>
            <a:normAutofit lnSpcReduction="10000"/>
          </a:bodyPr>
          <a:lstStyle/>
          <a:p>
            <a:endParaRPr lang="en-GB" dirty="0"/>
          </a:p>
          <a:p>
            <a:r>
              <a:rPr lang="en-GB" dirty="0"/>
              <a:t>Finalising the design of the AUTHLIB Survey Questionnaire (March 2024)</a:t>
            </a:r>
          </a:p>
          <a:p>
            <a:r>
              <a:rPr lang="en-GB" dirty="0"/>
              <a:t>Finalising the design of the AUTHLIB Survey Conjoint Experiment Module (April 2024)</a:t>
            </a:r>
          </a:p>
          <a:p>
            <a:r>
              <a:rPr lang="en-GB" dirty="0"/>
              <a:t>Pilot testing of new questions (April-May 2024)</a:t>
            </a:r>
          </a:p>
          <a:p>
            <a:r>
              <a:rPr lang="en-GB" dirty="0"/>
              <a:t>Translating AUTHLIB Survey into local languages (April-May 2024)</a:t>
            </a:r>
          </a:p>
          <a:p>
            <a:r>
              <a:rPr lang="en-GB" dirty="0"/>
              <a:t>Finalising the tender process: selection of the subcontractor (April-May 2024)</a:t>
            </a:r>
          </a:p>
          <a:p>
            <a:r>
              <a:rPr lang="en-GB" dirty="0"/>
              <a:t>Collaboration in survey programming and pre-testing (May-June 2024)</a:t>
            </a:r>
          </a:p>
          <a:p>
            <a:r>
              <a:rPr lang="en-GB" dirty="0"/>
              <a:t>Quality assurance in sampling, fieldwork and data (June 2024)</a:t>
            </a:r>
          </a:p>
          <a:p>
            <a:r>
              <a:rPr lang="en-GB" dirty="0"/>
              <a:t>Finalisation of the dataset and handing-in of the deliverables of WP4 (June-October 2024)</a:t>
            </a:r>
          </a:p>
        </p:txBody>
      </p:sp>
    </p:spTree>
    <p:extLst>
      <p:ext uri="{BB962C8B-B14F-4D97-AF65-F5344CB8AC3E}">
        <p14:creationId xmlns:p14="http://schemas.microsoft.com/office/powerpoint/2010/main" val="4067596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1250</Words>
  <Application>Microsoft Macintosh PowerPoint</Application>
  <PresentationFormat>Widescreen</PresentationFormat>
  <Paragraphs>129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Avenir</vt:lpstr>
      <vt:lpstr>Avenir Black</vt:lpstr>
      <vt:lpstr>Avenir Book</vt:lpstr>
      <vt:lpstr>Calibri</vt:lpstr>
      <vt:lpstr>Calibri Light</vt:lpstr>
      <vt:lpstr>Corbel</vt:lpstr>
      <vt:lpstr>Segoe UI</vt:lpstr>
      <vt:lpstr>Office Theme</vt:lpstr>
      <vt:lpstr>PowerPoint Presentation</vt:lpstr>
      <vt:lpstr>PowerPoint Presentation</vt:lpstr>
      <vt:lpstr>PowerPoint Presentation</vt:lpstr>
      <vt:lpstr>D2.1 Structure</vt:lpstr>
      <vt:lpstr>WP2 = making sense of the rich literature and conceptual order</vt:lpstr>
      <vt:lpstr>Populism – Illiberalism – Authoritarianism: overlaps &amp; idiosyncrasies</vt:lpstr>
      <vt:lpstr>Dynamics</vt:lpstr>
      <vt:lpstr>D2.2 Guidelines for Empirical Data Collection</vt:lpstr>
      <vt:lpstr>Key research questions</vt:lpstr>
      <vt:lpstr>Levels of analysis</vt:lpstr>
      <vt:lpstr>Central issues</vt:lpstr>
      <vt:lpstr>PowerPoint Presentation</vt:lpstr>
      <vt:lpstr>Five deliverables &amp; one milestone </vt:lpstr>
      <vt:lpstr>WP4 Main activities in M7-15</vt:lpstr>
      <vt:lpstr>Key meetings</vt:lpstr>
      <vt:lpstr>Compilation of existing studies, measures, and indicators </vt:lpstr>
      <vt:lpstr> Design of the survey questionnaire </vt:lpstr>
      <vt:lpstr> Design of the survey-embedded conjoint experiment  </vt:lpstr>
      <vt:lpstr> Preparation of the administration of the tender process ​ </vt:lpstr>
      <vt:lpstr> WP4: STEPS AHEAD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Ben Stanley</cp:lastModifiedBy>
  <cp:revision>5</cp:revision>
  <dcterms:created xsi:type="dcterms:W3CDTF">2024-03-18T11:03:21Z</dcterms:created>
  <dcterms:modified xsi:type="dcterms:W3CDTF">2024-03-23T15:03:15Z</dcterms:modified>
</cp:coreProperties>
</file>