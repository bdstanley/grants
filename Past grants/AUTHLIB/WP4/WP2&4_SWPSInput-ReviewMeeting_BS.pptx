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2" r:id="rId3"/>
    <p:sldId id="285" r:id="rId4"/>
    <p:sldId id="286" r:id="rId5"/>
    <p:sldId id="258" r:id="rId6"/>
    <p:sldId id="257" r:id="rId7"/>
    <p:sldId id="276" r:id="rId8"/>
    <p:sldId id="259" r:id="rId9"/>
    <p:sldId id="277" r:id="rId10"/>
    <p:sldId id="287" r:id="rId11"/>
    <p:sldId id="288" r:id="rId12"/>
    <p:sldId id="289" r:id="rId13"/>
    <p:sldId id="281" r:id="rId14"/>
    <p:sldId id="284" r:id="rId15"/>
    <p:sldId id="290" r:id="rId16"/>
    <p:sldId id="291" r:id="rId17"/>
    <p:sldId id="292" r:id="rId18"/>
    <p:sldId id="293" r:id="rId19"/>
    <p:sldId id="294" r:id="rId20"/>
    <p:sldId id="278" r:id="rId21"/>
    <p:sldId id="279" r:id="rId22"/>
    <p:sldId id="280" r:id="rId23"/>
    <p:sldId id="295" r:id="rId24"/>
    <p:sldId id="296" r:id="rId25"/>
    <p:sldId id="297" r:id="rId26"/>
    <p:sldId id="299" r:id="rId27"/>
    <p:sldId id="298" r:id="rId28"/>
    <p:sldId id="300" r:id="rId29"/>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984" autoAdjust="0"/>
    <p:restoredTop sz="94660"/>
  </p:normalViewPr>
  <p:slideViewPr>
    <p:cSldViewPr snapToGrid="0">
      <p:cViewPr varScale="1">
        <p:scale>
          <a:sx n="128" d="100"/>
          <a:sy n="128" d="100"/>
        </p:scale>
        <p:origin x="184" y="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953B7F7-AC97-4842-AB5C-31EE3C82FBD7}"/>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C4F7A30F-5B09-41CD-90B9-F49B0BDF77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0C47BCEC-37E1-4DAF-B488-3260B98107D0}"/>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5" name="Symbol zastępczy stopki 4">
            <a:extLst>
              <a:ext uri="{FF2B5EF4-FFF2-40B4-BE49-F238E27FC236}">
                <a16:creationId xmlns:a16="http://schemas.microsoft.com/office/drawing/2014/main" id="{465BC919-712E-42B5-99AB-82939A1EFCA7}"/>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E153B29F-526A-4D6B-B0E0-7A10CE4915E1}"/>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1637189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9EDF6FD-8982-4C0E-BCE0-B656D8F9E14D}"/>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49966950-E9FB-4840-AB1C-E9ADC6C395F3}"/>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7A24841-874A-4F47-B1ED-14529EA0361A}"/>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5" name="Symbol zastępczy stopki 4">
            <a:extLst>
              <a:ext uri="{FF2B5EF4-FFF2-40B4-BE49-F238E27FC236}">
                <a16:creationId xmlns:a16="http://schemas.microsoft.com/office/drawing/2014/main" id="{262F532A-1520-4E47-9B02-B67CAE4A1F84}"/>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3AD70148-092F-4546-819A-D1491539DC74}"/>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2340135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C0F74B0-B595-44B7-94C4-3EFDCC679893}"/>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825B5D22-9116-415F-A98D-BF9DE22A86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722A9D0A-64CB-4ACF-9490-5ED9FDE2F0FC}"/>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5" name="Symbol zastępczy stopki 4">
            <a:extLst>
              <a:ext uri="{FF2B5EF4-FFF2-40B4-BE49-F238E27FC236}">
                <a16:creationId xmlns:a16="http://schemas.microsoft.com/office/drawing/2014/main" id="{079CEB2F-09B0-46EF-8162-0E4F78463D7A}"/>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2AB8DB89-B787-4D8C-AA7A-94D3144A7CAE}"/>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2468857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73AB696-D493-429B-9C7E-0476F8F409A5}"/>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2CE45BE0-B2C7-4112-91F0-EE77703CB6A1}"/>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C343B5F9-E235-4391-968B-52A6970B3A3C}"/>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54CB7C7F-F197-45F6-B3B5-6DE32C39F9C6}"/>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6" name="Symbol zastępczy stopki 5">
            <a:extLst>
              <a:ext uri="{FF2B5EF4-FFF2-40B4-BE49-F238E27FC236}">
                <a16:creationId xmlns:a16="http://schemas.microsoft.com/office/drawing/2014/main" id="{8EE2E721-10C4-4213-BCE6-1F36A7A4581A}"/>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84ED6A48-C16D-4F2A-8C1E-9B02F0DA7871}"/>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3667099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9D26C63-E7E5-40D4-A29E-35F8216BDAE0}"/>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B6931972-2B11-47AE-AB46-AC6F96552A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FC615997-10F6-4D40-873C-39D3C0EF9939}"/>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35F9CECB-8838-4737-8582-46A6E8AB21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C58DA607-0B7D-416B-A993-B93C4845B5F5}"/>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B64C05F7-B124-44CC-B4CE-8C726F78496D}"/>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8" name="Symbol zastępczy stopki 7">
            <a:extLst>
              <a:ext uri="{FF2B5EF4-FFF2-40B4-BE49-F238E27FC236}">
                <a16:creationId xmlns:a16="http://schemas.microsoft.com/office/drawing/2014/main" id="{27A607F3-43AB-4179-BF93-82DF2F07F56E}"/>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041CE768-2A8D-42B7-845B-78C8A4EB5830}"/>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3422461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7FEA4F-E909-444E-9DF1-728A4ADEFD05}"/>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FA869EBA-1BAF-44A7-A67E-F26D6CB77112}"/>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4" name="Symbol zastępczy stopki 3">
            <a:extLst>
              <a:ext uri="{FF2B5EF4-FFF2-40B4-BE49-F238E27FC236}">
                <a16:creationId xmlns:a16="http://schemas.microsoft.com/office/drawing/2014/main" id="{50E3B90A-F20F-48ED-9E5E-8296402EEDEA}"/>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815DFA7A-0B71-43A8-880F-9890A5F2F7B7}"/>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3643915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ECC4ED88-8DD1-4C35-BBEF-21BC95ADCED7}"/>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3" name="Symbol zastępczy stopki 2">
            <a:extLst>
              <a:ext uri="{FF2B5EF4-FFF2-40B4-BE49-F238E27FC236}">
                <a16:creationId xmlns:a16="http://schemas.microsoft.com/office/drawing/2014/main" id="{54FDC496-ADAC-4A26-BAB6-56021DE7EDC0}"/>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E361D705-F941-45F0-91AB-2E118851E5B4}"/>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2227302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2251FED-A389-42DA-BB6F-EA71ED802764}"/>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52C56D56-13BA-4419-9371-3EB8375934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3E2BA310-97E2-4CEE-BAE2-E452363E07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E6CAA052-DE9C-40A5-BF4E-D9D41AFC7D1F}"/>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6" name="Symbol zastępczy stopki 5">
            <a:extLst>
              <a:ext uri="{FF2B5EF4-FFF2-40B4-BE49-F238E27FC236}">
                <a16:creationId xmlns:a16="http://schemas.microsoft.com/office/drawing/2014/main" id="{C96B6CC9-CA2B-4E57-92C2-D6FD0B42FF9C}"/>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1017C468-52AB-4E15-8BF7-798C84AA3822}"/>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3980624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7C21142-5B68-4106-839D-EF5F9DF9D744}"/>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B8744B1B-C0E3-4C56-9F84-7250582D30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F7685638-D1E2-4B6D-A415-4B706F8EB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88DC78A0-9E34-4C6A-85CD-D3369C5C1198}"/>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6" name="Symbol zastępczy stopki 5">
            <a:extLst>
              <a:ext uri="{FF2B5EF4-FFF2-40B4-BE49-F238E27FC236}">
                <a16:creationId xmlns:a16="http://schemas.microsoft.com/office/drawing/2014/main" id="{89C5144A-5AC7-4D36-9E18-0A3E054D00E2}"/>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03EEA39C-170E-4F2C-95C3-A8A54A09DBD0}"/>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3530497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47F45D8-5F11-4FA8-9F35-5092C6B0376C}"/>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7FD82C42-0430-4206-A564-282199E6EA83}"/>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81A183FD-E051-4CAD-8986-504E0218C1B1}"/>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5" name="Symbol zastępczy stopki 4">
            <a:extLst>
              <a:ext uri="{FF2B5EF4-FFF2-40B4-BE49-F238E27FC236}">
                <a16:creationId xmlns:a16="http://schemas.microsoft.com/office/drawing/2014/main" id="{DB490990-C2FD-402C-B470-708FC20AF80D}"/>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FEE280ED-A574-4757-824A-0D6954ABB21B}"/>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2756453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664A4EF1-3B5A-4EB4-84FA-3DB65E04E7AB}"/>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9F5F3FA5-A90A-4FC8-A717-359A6858189A}"/>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68DB3B57-B92D-4B3D-81D8-F09FCCD9A78B}"/>
              </a:ext>
            </a:extLst>
          </p:cNvPr>
          <p:cNvSpPr>
            <a:spLocks noGrp="1"/>
          </p:cNvSpPr>
          <p:nvPr>
            <p:ph type="dt" sz="half" idx="10"/>
          </p:nvPr>
        </p:nvSpPr>
        <p:spPr/>
        <p:txBody>
          <a:bodyPr/>
          <a:lstStyle/>
          <a:p>
            <a:fld id="{37CC802E-5850-41B1-87BA-5BE21108E586}" type="datetimeFigureOut">
              <a:rPr lang="pl-PL" smtClean="0"/>
              <a:t>13.03.2024</a:t>
            </a:fld>
            <a:endParaRPr lang="pl-PL"/>
          </a:p>
        </p:txBody>
      </p:sp>
      <p:sp>
        <p:nvSpPr>
          <p:cNvPr id="5" name="Symbol zastępczy stopki 4">
            <a:extLst>
              <a:ext uri="{FF2B5EF4-FFF2-40B4-BE49-F238E27FC236}">
                <a16:creationId xmlns:a16="http://schemas.microsoft.com/office/drawing/2014/main" id="{60986499-561F-4A12-B71D-DA2E4CEA137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08F6E4D5-8C7D-4D7D-A666-EF93DACED839}"/>
              </a:ext>
            </a:extLst>
          </p:cNvPr>
          <p:cNvSpPr>
            <a:spLocks noGrp="1"/>
          </p:cNvSpPr>
          <p:nvPr>
            <p:ph type="sldNum" sz="quarter" idx="12"/>
          </p:nvPr>
        </p:nvSpPr>
        <p:spPr/>
        <p:txBody>
          <a:bodyPr/>
          <a:lstStyle/>
          <a:p>
            <a:fld id="{4AA98985-0290-48C6-8D77-ACC868CA8C57}" type="slidenum">
              <a:rPr lang="pl-PL" smtClean="0"/>
              <a:t>‹#›</a:t>
            </a:fld>
            <a:endParaRPr lang="pl-PL"/>
          </a:p>
        </p:txBody>
      </p:sp>
    </p:spTree>
    <p:extLst>
      <p:ext uri="{BB962C8B-B14F-4D97-AF65-F5344CB8AC3E}">
        <p14:creationId xmlns:p14="http://schemas.microsoft.com/office/powerpoint/2010/main" val="2715543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E603D8F7-1539-427D-A4E9-1F0BB87CDB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65FDF5D1-1DDE-4A39-90FE-E0B9E9A375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C6474F89-11DE-4ED9-97F5-76FACA3DFF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CC802E-5850-41B1-87BA-5BE21108E586}" type="datetimeFigureOut">
              <a:rPr lang="pl-PL" smtClean="0"/>
              <a:t>13.03.2024</a:t>
            </a:fld>
            <a:endParaRPr lang="pl-PL"/>
          </a:p>
        </p:txBody>
      </p:sp>
      <p:sp>
        <p:nvSpPr>
          <p:cNvPr id="5" name="Symbol zastępczy stopki 4">
            <a:extLst>
              <a:ext uri="{FF2B5EF4-FFF2-40B4-BE49-F238E27FC236}">
                <a16:creationId xmlns:a16="http://schemas.microsoft.com/office/drawing/2014/main" id="{22C240BA-1F83-483D-8BBF-10AA2C780B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a:extLst>
              <a:ext uri="{FF2B5EF4-FFF2-40B4-BE49-F238E27FC236}">
                <a16:creationId xmlns:a16="http://schemas.microsoft.com/office/drawing/2014/main" id="{DE2B011D-2415-4850-96F6-16F0B0394A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98985-0290-48C6-8D77-ACC868CA8C57}" type="slidenum">
              <a:rPr lang="pl-PL" smtClean="0"/>
              <a:t>‹#›</a:t>
            </a:fld>
            <a:endParaRPr lang="pl-PL"/>
          </a:p>
        </p:txBody>
      </p:sp>
    </p:spTree>
    <p:extLst>
      <p:ext uri="{BB962C8B-B14F-4D97-AF65-F5344CB8AC3E}">
        <p14:creationId xmlns:p14="http://schemas.microsoft.com/office/powerpoint/2010/main" val="1271790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C172619-6000-4599-AD02-8BBED1BFF82D}"/>
              </a:ext>
            </a:extLst>
          </p:cNvPr>
          <p:cNvSpPr>
            <a:spLocks noGrp="1"/>
          </p:cNvSpPr>
          <p:nvPr>
            <p:ph type="ctrTitle"/>
          </p:nvPr>
        </p:nvSpPr>
        <p:spPr>
          <a:xfrm>
            <a:off x="1524000" y="1122362"/>
            <a:ext cx="9144000" cy="3737873"/>
          </a:xfrm>
        </p:spPr>
        <p:txBody>
          <a:bodyPr>
            <a:normAutofit fontScale="90000"/>
          </a:bodyPr>
          <a:lstStyle/>
          <a:p>
            <a:br>
              <a:rPr lang="pl-PL" dirty="0"/>
            </a:br>
            <a:br>
              <a:rPr lang="pl-PL" dirty="0"/>
            </a:br>
            <a:br>
              <a:rPr lang="pl-PL" dirty="0"/>
            </a:br>
            <a:r>
              <a:rPr lang="pl-PL" sz="4000" b="1" dirty="0"/>
              <a:t>WP2 </a:t>
            </a:r>
            <a:r>
              <a:rPr lang="en-US" sz="4000" b="1" i="0" dirty="0">
                <a:solidFill>
                  <a:srgbClr val="1C1C1C"/>
                </a:solidFill>
                <a:effectLst/>
              </a:rPr>
              <a:t>Principal tensions and shortcomings of the European political systems, dimensions of empirical research</a:t>
            </a:r>
            <a:br>
              <a:rPr lang="en-US" sz="4000" b="0" i="0" dirty="0">
                <a:solidFill>
                  <a:srgbClr val="1C1C1C"/>
                </a:solidFill>
                <a:effectLst/>
              </a:rPr>
            </a:br>
            <a:r>
              <a:rPr lang="en-US" sz="4000" b="0" i="0" dirty="0">
                <a:solidFill>
                  <a:srgbClr val="1C1C1C"/>
                </a:solidFill>
                <a:effectLst/>
              </a:rPr>
              <a:t>​</a:t>
            </a:r>
            <a:br>
              <a:rPr lang="en-US" sz="4000" b="0" i="0" dirty="0">
                <a:solidFill>
                  <a:srgbClr val="1C1C1C"/>
                </a:solidFill>
                <a:effectLst/>
              </a:rPr>
            </a:br>
            <a:r>
              <a:rPr lang="en-US" sz="4000" b="0" i="0" dirty="0">
                <a:solidFill>
                  <a:srgbClr val="1C1C1C"/>
                </a:solidFill>
                <a:effectLst/>
              </a:rPr>
              <a:t> Lead SWPS</a:t>
            </a:r>
            <a:br>
              <a:rPr lang="en-US" sz="4000" b="0" i="0" dirty="0">
                <a:solidFill>
                  <a:srgbClr val="1C1C1C"/>
                </a:solidFill>
                <a:effectLst/>
              </a:rPr>
            </a:br>
            <a:br>
              <a:rPr lang="en-US" sz="4000" b="0" i="0" dirty="0">
                <a:solidFill>
                  <a:srgbClr val="1C1C1C"/>
                </a:solidFill>
                <a:effectLst/>
              </a:rPr>
            </a:br>
            <a:r>
              <a:rPr lang="en-US" sz="4000" b="0" i="0" dirty="0">
                <a:solidFill>
                  <a:srgbClr val="1C1C1C"/>
                </a:solidFill>
                <a:effectLst/>
              </a:rPr>
              <a:t>M2-6 (November 2022 – March 2023)</a:t>
            </a:r>
            <a:endParaRPr lang="pl-PL" dirty="0"/>
          </a:p>
        </p:txBody>
      </p:sp>
    </p:spTree>
    <p:extLst>
      <p:ext uri="{BB962C8B-B14F-4D97-AF65-F5344CB8AC3E}">
        <p14:creationId xmlns:p14="http://schemas.microsoft.com/office/powerpoint/2010/main" val="3589242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C22B75-4F1A-491A-9543-B958A7CADBDF}"/>
              </a:ext>
            </a:extLst>
          </p:cNvPr>
          <p:cNvSpPr>
            <a:spLocks noGrp="1"/>
          </p:cNvSpPr>
          <p:nvPr>
            <p:ph type="title"/>
          </p:nvPr>
        </p:nvSpPr>
        <p:spPr>
          <a:xfrm>
            <a:off x="838200" y="365125"/>
            <a:ext cx="10515600" cy="677863"/>
          </a:xfrm>
        </p:spPr>
        <p:txBody>
          <a:bodyPr>
            <a:normAutofit fontScale="90000"/>
          </a:bodyPr>
          <a:lstStyle/>
          <a:p>
            <a:r>
              <a:rPr lang="pl-PL" dirty="0" err="1"/>
              <a:t>Two</a:t>
            </a:r>
            <a:r>
              <a:rPr lang="pl-PL" dirty="0"/>
              <a:t> </a:t>
            </a:r>
            <a:r>
              <a:rPr lang="pl-PL" dirty="0" err="1"/>
              <a:t>deliverables</a:t>
            </a:r>
            <a:r>
              <a:rPr lang="pl-PL" dirty="0"/>
              <a:t> &amp; one </a:t>
            </a:r>
            <a:r>
              <a:rPr lang="pl-PL" dirty="0" err="1"/>
              <a:t>milestone</a:t>
            </a:r>
            <a:r>
              <a:rPr lang="pl-PL" dirty="0"/>
              <a:t> </a:t>
            </a:r>
          </a:p>
        </p:txBody>
      </p:sp>
      <p:sp>
        <p:nvSpPr>
          <p:cNvPr id="3" name="Symbol zastępczy zawartości 2">
            <a:extLst>
              <a:ext uri="{FF2B5EF4-FFF2-40B4-BE49-F238E27FC236}">
                <a16:creationId xmlns:a16="http://schemas.microsoft.com/office/drawing/2014/main" id="{D8358221-1950-4C72-BBE8-5A20865A87BA}"/>
              </a:ext>
            </a:extLst>
          </p:cNvPr>
          <p:cNvSpPr>
            <a:spLocks noGrp="1"/>
          </p:cNvSpPr>
          <p:nvPr>
            <p:ph idx="1"/>
          </p:nvPr>
        </p:nvSpPr>
        <p:spPr>
          <a:xfrm>
            <a:off x="838200" y="1357313"/>
            <a:ext cx="10515600" cy="4819650"/>
          </a:xfrm>
        </p:spPr>
        <p:txBody>
          <a:bodyPr>
            <a:normAutofit/>
          </a:bodyPr>
          <a:lstStyle/>
          <a:p>
            <a:pPr marL="0" indent="0">
              <a:buNone/>
            </a:pPr>
            <a:r>
              <a:rPr lang="pl-PL" b="1" noProof="1">
                <a:latin typeface="Corbel" panose="020B0503020204020204" pitchFamily="34" charset="0"/>
              </a:rPr>
              <a:t>D2.1 Literature review: Illiberalism, Authoritarianism and Populism M5</a:t>
            </a:r>
          </a:p>
          <a:p>
            <a:pPr marL="0" indent="0">
              <a:buNone/>
            </a:pPr>
            <a:endParaRPr lang="pl-PL" b="1" noProof="1">
              <a:latin typeface="Corbel" panose="020B0503020204020204" pitchFamily="34" charset="0"/>
            </a:endParaRPr>
          </a:p>
          <a:p>
            <a:pPr marL="0" indent="0">
              <a:buNone/>
            </a:pPr>
            <a:r>
              <a:rPr lang="pl-PL" b="1" noProof="1">
                <a:latin typeface="Corbel" panose="020B0503020204020204" pitchFamily="34" charset="0"/>
                <a:sym typeface="Wingdings" panose="05000000000000000000" pitchFamily="2" charset="2"/>
              </a:rPr>
              <a:t>D2.2 Guidelines for emprical data collection M6</a:t>
            </a:r>
          </a:p>
          <a:p>
            <a:pPr marL="0" indent="0">
              <a:buNone/>
            </a:pPr>
            <a:endParaRPr lang="pl-PL" b="1" noProof="1">
              <a:latin typeface="Corbel" panose="020B0503020204020204" pitchFamily="34" charset="0"/>
              <a:sym typeface="Wingdings" panose="05000000000000000000" pitchFamily="2" charset="2"/>
            </a:endParaRPr>
          </a:p>
          <a:p>
            <a:pPr marL="0" indent="0">
              <a:buNone/>
            </a:pPr>
            <a:r>
              <a:rPr lang="pl-PL" b="1" noProof="1">
                <a:latin typeface="Corbel" panose="020B0503020204020204" pitchFamily="34" charset="0"/>
                <a:sym typeface="Wingdings" panose="05000000000000000000" pitchFamily="2" charset="2"/>
              </a:rPr>
              <a:t>Milestone – Guidelines for emprical data collection M6</a:t>
            </a:r>
            <a:endParaRPr lang="pl-PL" noProof="1">
              <a:latin typeface="Corbel" panose="020B0503020204020204" pitchFamily="34" charset="0"/>
              <a:sym typeface="Wingdings" panose="05000000000000000000" pitchFamily="2" charset="2"/>
            </a:endParaRPr>
          </a:p>
        </p:txBody>
      </p:sp>
    </p:spTree>
    <p:extLst>
      <p:ext uri="{BB962C8B-B14F-4D97-AF65-F5344CB8AC3E}">
        <p14:creationId xmlns:p14="http://schemas.microsoft.com/office/powerpoint/2010/main" val="1879345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C22B75-4F1A-491A-9543-B958A7CADBDF}"/>
              </a:ext>
            </a:extLst>
          </p:cNvPr>
          <p:cNvSpPr>
            <a:spLocks noGrp="1"/>
          </p:cNvSpPr>
          <p:nvPr>
            <p:ph type="title"/>
          </p:nvPr>
        </p:nvSpPr>
        <p:spPr>
          <a:xfrm>
            <a:off x="838200" y="365125"/>
            <a:ext cx="10515600" cy="677863"/>
          </a:xfrm>
        </p:spPr>
        <p:txBody>
          <a:bodyPr>
            <a:normAutofit fontScale="90000"/>
          </a:bodyPr>
          <a:lstStyle/>
          <a:p>
            <a:r>
              <a:rPr lang="pl-PL" dirty="0" err="1"/>
              <a:t>Key</a:t>
            </a:r>
            <a:r>
              <a:rPr lang="pl-PL" dirty="0"/>
              <a:t> </a:t>
            </a:r>
            <a:r>
              <a:rPr lang="pl-PL" dirty="0" err="1"/>
              <a:t>meetings</a:t>
            </a:r>
            <a:endParaRPr lang="pl-PL" dirty="0"/>
          </a:p>
        </p:txBody>
      </p:sp>
      <p:sp>
        <p:nvSpPr>
          <p:cNvPr id="3" name="Symbol zastępczy zawartości 2">
            <a:extLst>
              <a:ext uri="{FF2B5EF4-FFF2-40B4-BE49-F238E27FC236}">
                <a16:creationId xmlns:a16="http://schemas.microsoft.com/office/drawing/2014/main" id="{D8358221-1950-4C72-BBE8-5A20865A87BA}"/>
              </a:ext>
            </a:extLst>
          </p:cNvPr>
          <p:cNvSpPr>
            <a:spLocks noGrp="1"/>
          </p:cNvSpPr>
          <p:nvPr>
            <p:ph idx="1"/>
          </p:nvPr>
        </p:nvSpPr>
        <p:spPr>
          <a:xfrm>
            <a:off x="838200" y="1357313"/>
            <a:ext cx="6401773" cy="4819650"/>
          </a:xfrm>
        </p:spPr>
        <p:txBody>
          <a:bodyPr>
            <a:normAutofit fontScale="92500" lnSpcReduction="20000"/>
          </a:bodyPr>
          <a:lstStyle/>
          <a:p>
            <a:pPr marL="0" indent="0">
              <a:buNone/>
            </a:pPr>
            <a:r>
              <a:rPr lang="pl-PL" b="1" noProof="1">
                <a:latin typeface="Corbel" panose="020B0503020204020204" pitchFamily="34" charset="0"/>
              </a:rPr>
              <a:t>AUTHLIB consortium first virtual workshop on February 24, 2023 </a:t>
            </a:r>
          </a:p>
          <a:p>
            <a:pPr marL="0" indent="0">
              <a:buNone/>
            </a:pPr>
            <a:r>
              <a:rPr lang="pl-PL" noProof="1">
                <a:latin typeface="Corbel" panose="020B0503020204020204" pitchFamily="34" charset="0"/>
              </a:rPr>
              <a:t>The workshop synthesized inputs from the consortium members before the finalization of the literature review, which laid the conceptual groundwork for the AUTHLIB project and paved the way for the operationalization of its key variables.</a:t>
            </a:r>
          </a:p>
          <a:p>
            <a:pPr marL="0" indent="0">
              <a:buNone/>
            </a:pPr>
            <a:endParaRPr lang="pl-PL" b="1" noProof="1">
              <a:latin typeface="Corbel" panose="020B0503020204020204" pitchFamily="34" charset="0"/>
              <a:sym typeface="Wingdings" panose="05000000000000000000" pitchFamily="2" charset="2"/>
            </a:endParaRPr>
          </a:p>
          <a:p>
            <a:pPr marL="0" indent="0">
              <a:buNone/>
            </a:pPr>
            <a:r>
              <a:rPr lang="pl-PL" b="1" noProof="1">
                <a:latin typeface="Corbel" panose="020B0503020204020204" pitchFamily="34" charset="0"/>
                <a:sym typeface="Wingdings" panose="05000000000000000000" pitchFamily="2" charset="2"/>
              </a:rPr>
              <a:t>Hybrid internal workshop held on March 29, 2023 on-site at the University of Vienna and online</a:t>
            </a:r>
          </a:p>
          <a:p>
            <a:pPr marL="0" indent="0">
              <a:buNone/>
            </a:pPr>
            <a:r>
              <a:rPr lang="pl-PL" noProof="1">
                <a:latin typeface="Corbel" panose="020B0503020204020204" pitchFamily="34" charset="0"/>
                <a:sym typeface="Wingdings" panose="05000000000000000000" pitchFamily="2" charset="2"/>
              </a:rPr>
              <a:t>The workshop was relevant for advancing the discussion and laying out the general methodological approach of the project.  </a:t>
            </a:r>
          </a:p>
        </p:txBody>
      </p:sp>
      <p:pic>
        <p:nvPicPr>
          <p:cNvPr id="7" name="Picture 6">
            <a:extLst>
              <a:ext uri="{FF2B5EF4-FFF2-40B4-BE49-F238E27FC236}">
                <a16:creationId xmlns:a16="http://schemas.microsoft.com/office/drawing/2014/main" id="{40715F14-05E0-AD32-BDA7-7858EE128A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3259" y="568327"/>
            <a:ext cx="4233530" cy="2841169"/>
          </a:xfrm>
          <a:prstGeom prst="rect">
            <a:avLst/>
          </a:prstGeom>
        </p:spPr>
      </p:pic>
      <p:pic>
        <p:nvPicPr>
          <p:cNvPr id="9" name="Picture 8">
            <a:extLst>
              <a:ext uri="{FF2B5EF4-FFF2-40B4-BE49-F238E27FC236}">
                <a16:creationId xmlns:a16="http://schemas.microsoft.com/office/drawing/2014/main" id="{38BD78AB-EFCC-BE18-93B9-910D1FEF16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3259" y="3448504"/>
            <a:ext cx="4233530" cy="2841169"/>
          </a:xfrm>
          <a:prstGeom prst="rect">
            <a:avLst/>
          </a:prstGeom>
        </p:spPr>
      </p:pic>
    </p:spTree>
    <p:extLst>
      <p:ext uri="{BB962C8B-B14F-4D97-AF65-F5344CB8AC3E}">
        <p14:creationId xmlns:p14="http://schemas.microsoft.com/office/powerpoint/2010/main" val="3007095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C22B75-4F1A-491A-9543-B958A7CADBDF}"/>
              </a:ext>
            </a:extLst>
          </p:cNvPr>
          <p:cNvSpPr>
            <a:spLocks noGrp="1"/>
          </p:cNvSpPr>
          <p:nvPr>
            <p:ph type="title"/>
          </p:nvPr>
        </p:nvSpPr>
        <p:spPr>
          <a:xfrm>
            <a:off x="838200" y="365125"/>
            <a:ext cx="10515600" cy="677863"/>
          </a:xfrm>
        </p:spPr>
        <p:txBody>
          <a:bodyPr>
            <a:normAutofit fontScale="90000"/>
          </a:bodyPr>
          <a:lstStyle/>
          <a:p>
            <a:r>
              <a:rPr lang="pl-PL" dirty="0"/>
              <a:t>D2.1 </a:t>
            </a:r>
            <a:r>
              <a:rPr lang="pl-PL" dirty="0" err="1"/>
              <a:t>Structure</a:t>
            </a:r>
            <a:endParaRPr lang="pl-PL" dirty="0"/>
          </a:p>
        </p:txBody>
      </p:sp>
      <p:sp>
        <p:nvSpPr>
          <p:cNvPr id="3" name="Symbol zastępczy zawartości 2">
            <a:extLst>
              <a:ext uri="{FF2B5EF4-FFF2-40B4-BE49-F238E27FC236}">
                <a16:creationId xmlns:a16="http://schemas.microsoft.com/office/drawing/2014/main" id="{D8358221-1950-4C72-BBE8-5A20865A87BA}"/>
              </a:ext>
            </a:extLst>
          </p:cNvPr>
          <p:cNvSpPr>
            <a:spLocks noGrp="1"/>
          </p:cNvSpPr>
          <p:nvPr>
            <p:ph idx="1"/>
          </p:nvPr>
        </p:nvSpPr>
        <p:spPr>
          <a:xfrm>
            <a:off x="838200" y="1357313"/>
            <a:ext cx="10515600" cy="4819650"/>
          </a:xfrm>
        </p:spPr>
        <p:txBody>
          <a:bodyPr>
            <a:normAutofit fontScale="92500" lnSpcReduction="10000"/>
          </a:bodyPr>
          <a:lstStyle/>
          <a:p>
            <a:pPr marL="514350" indent="-514350">
              <a:buFont typeface="+mj-lt"/>
              <a:buAutoNum type="arabicPeriod"/>
            </a:pPr>
            <a:r>
              <a:rPr lang="pl-PL" b="1" noProof="1">
                <a:latin typeface="Corbel" panose="020B0503020204020204" pitchFamily="34" charset="0"/>
                <a:sym typeface="Wingdings" panose="05000000000000000000" pitchFamily="2" charset="2"/>
              </a:rPr>
              <a:t>What is illiberalism?</a:t>
            </a:r>
          </a:p>
          <a:p>
            <a:pPr marL="971550" lvl="1" indent="-514350">
              <a:buFont typeface="+mj-lt"/>
              <a:buAutoNum type="arabicPeriod"/>
            </a:pPr>
            <a:r>
              <a:rPr lang="pl-PL" noProof="1">
                <a:latin typeface="Corbel" panose="020B0503020204020204" pitchFamily="34" charset="0"/>
                <a:sym typeface="Wingdings" panose="05000000000000000000" pitchFamily="2" charset="2"/>
              </a:rPr>
              <a:t>Illiberalism as regime type: Illiberal democracies</a:t>
            </a:r>
          </a:p>
          <a:p>
            <a:pPr marL="971550" lvl="1" indent="-514350">
              <a:buFont typeface="+mj-lt"/>
              <a:buAutoNum type="arabicPeriod"/>
            </a:pPr>
            <a:r>
              <a:rPr lang="pl-PL" noProof="1">
                <a:latin typeface="Corbel" panose="020B0503020204020204" pitchFamily="34" charset="0"/>
                <a:sym typeface="Wingdings" panose="05000000000000000000" pitchFamily="2" charset="2"/>
              </a:rPr>
              <a:t>Illiberalism as ideology</a:t>
            </a:r>
          </a:p>
          <a:p>
            <a:pPr marL="971550" lvl="1" indent="-514350">
              <a:buFont typeface="+mj-lt"/>
              <a:buAutoNum type="arabicPeriod"/>
            </a:pPr>
            <a:r>
              <a:rPr lang="pl-PL" noProof="1">
                <a:latin typeface="Corbel" panose="020B0503020204020204" pitchFamily="34" charset="0"/>
                <a:sym typeface="Wingdings" panose="05000000000000000000" pitchFamily="2" charset="2"/>
              </a:rPr>
              <a:t>Bringing illiberal values and practices together</a:t>
            </a:r>
          </a:p>
          <a:p>
            <a:pPr marL="514350" indent="-514350">
              <a:buFont typeface="+mj-lt"/>
              <a:buAutoNum type="arabicPeriod"/>
            </a:pPr>
            <a:r>
              <a:rPr lang="pl-PL" b="1" noProof="1">
                <a:latin typeface="Corbel" panose="020B0503020204020204" pitchFamily="34" charset="0"/>
                <a:sym typeface="Wingdings" panose="05000000000000000000" pitchFamily="2" charset="2"/>
              </a:rPr>
              <a:t>How is illiberalism different from authoritarianism and populism?</a:t>
            </a:r>
          </a:p>
          <a:p>
            <a:pPr marL="971550" lvl="1" indent="-514350">
              <a:buFont typeface="+mj-lt"/>
              <a:buAutoNum type="arabicPeriod"/>
            </a:pPr>
            <a:r>
              <a:rPr lang="pl-PL" noProof="1">
                <a:latin typeface="Corbel" panose="020B0503020204020204" pitchFamily="34" charset="0"/>
                <a:sym typeface="Wingdings" panose="05000000000000000000" pitchFamily="2" charset="2"/>
              </a:rPr>
              <a:t>Authoritarianism</a:t>
            </a:r>
          </a:p>
          <a:p>
            <a:pPr marL="971550" lvl="1" indent="-514350">
              <a:buFont typeface="+mj-lt"/>
              <a:buAutoNum type="arabicPeriod"/>
            </a:pPr>
            <a:r>
              <a:rPr lang="pl-PL" noProof="1">
                <a:latin typeface="Corbel" panose="020B0503020204020204" pitchFamily="34" charset="0"/>
                <a:sym typeface="Wingdings" panose="05000000000000000000" pitchFamily="2" charset="2"/>
              </a:rPr>
              <a:t>Populism</a:t>
            </a:r>
          </a:p>
          <a:p>
            <a:pPr marL="971550" lvl="1" indent="-514350">
              <a:buFont typeface="+mj-lt"/>
              <a:buAutoNum type="arabicPeriod"/>
            </a:pPr>
            <a:r>
              <a:rPr lang="pl-PL" noProof="1">
                <a:latin typeface="Corbel" panose="020B0503020204020204" pitchFamily="34" charset="0"/>
                <a:sym typeface="Wingdings" panose="05000000000000000000" pitchFamily="2" charset="2"/>
              </a:rPr>
              <a:t>Mapping illiberalism against authoritarianism and populism</a:t>
            </a:r>
          </a:p>
          <a:p>
            <a:pPr marL="971550" lvl="1" indent="-514350">
              <a:buFont typeface="+mj-lt"/>
              <a:buAutoNum type="arabicPeriod"/>
            </a:pPr>
            <a:r>
              <a:rPr lang="pl-PL" noProof="1">
                <a:latin typeface="Corbel" panose="020B0503020204020204" pitchFamily="34" charset="0"/>
                <a:sym typeface="Wingdings" panose="05000000000000000000" pitchFamily="2" charset="2"/>
              </a:rPr>
              <a:t>Sequencing illiberalism, authoritarianism and populism </a:t>
            </a:r>
          </a:p>
          <a:p>
            <a:pPr marL="514350" indent="-514350">
              <a:buFont typeface="+mj-lt"/>
              <a:buAutoNum type="arabicPeriod"/>
            </a:pPr>
            <a:r>
              <a:rPr lang="pl-PL" b="1" noProof="1">
                <a:latin typeface="Corbel" panose="020B0503020204020204" pitchFamily="34" charset="0"/>
                <a:sym typeface="Wingdings" panose="05000000000000000000" pitchFamily="2" charset="2"/>
              </a:rPr>
              <a:t>Varieties of illiberalism</a:t>
            </a:r>
          </a:p>
          <a:p>
            <a:pPr marL="514350" indent="-514350">
              <a:buFont typeface="+mj-lt"/>
              <a:buAutoNum type="arabicPeriod"/>
            </a:pPr>
            <a:r>
              <a:rPr lang="pl-PL" b="1" noProof="1">
                <a:latin typeface="Corbel" panose="020B0503020204020204" pitchFamily="34" charset="0"/>
                <a:sym typeface="Wingdings" panose="05000000000000000000" pitchFamily="2" charset="2"/>
              </a:rPr>
              <a:t>Postliberalism</a:t>
            </a:r>
          </a:p>
          <a:p>
            <a:pPr marL="514350" indent="-514350">
              <a:buFont typeface="+mj-lt"/>
              <a:buAutoNum type="arabicPeriod"/>
            </a:pPr>
            <a:r>
              <a:rPr lang="pl-PL" b="1" noProof="1">
                <a:latin typeface="Corbel" panose="020B0503020204020204" pitchFamily="34" charset="0"/>
                <a:sym typeface="Wingdings" panose="05000000000000000000" pitchFamily="2" charset="2"/>
              </a:rPr>
              <a:t>Illiberal liberalism</a:t>
            </a:r>
          </a:p>
          <a:p>
            <a:pPr marL="971550" lvl="1" indent="-514350">
              <a:buFont typeface="+mj-lt"/>
              <a:buAutoNum type="arabicPeriod"/>
            </a:pPr>
            <a:endParaRPr lang="pl-PL" noProof="1">
              <a:latin typeface="Corbel" panose="020B0503020204020204" pitchFamily="34" charset="0"/>
              <a:sym typeface="Wingdings" panose="05000000000000000000" pitchFamily="2" charset="2"/>
            </a:endParaRPr>
          </a:p>
          <a:p>
            <a:endParaRPr lang="pl-PL" dirty="0"/>
          </a:p>
        </p:txBody>
      </p:sp>
    </p:spTree>
    <p:extLst>
      <p:ext uri="{BB962C8B-B14F-4D97-AF65-F5344CB8AC3E}">
        <p14:creationId xmlns:p14="http://schemas.microsoft.com/office/powerpoint/2010/main" val="3008119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9CD8FB2-4F33-4344-9714-4AF999F9D519}"/>
              </a:ext>
            </a:extLst>
          </p:cNvPr>
          <p:cNvSpPr>
            <a:spLocks noGrp="1"/>
          </p:cNvSpPr>
          <p:nvPr>
            <p:ph type="title"/>
          </p:nvPr>
        </p:nvSpPr>
        <p:spPr>
          <a:xfrm>
            <a:off x="838200" y="152401"/>
            <a:ext cx="10515600" cy="746760"/>
          </a:xfrm>
        </p:spPr>
        <p:txBody>
          <a:bodyPr>
            <a:noAutofit/>
          </a:bodyPr>
          <a:lstStyle/>
          <a:p>
            <a:r>
              <a:rPr lang="pl-PL" sz="2800" dirty="0"/>
              <a:t>WP2 = </a:t>
            </a:r>
            <a:r>
              <a:rPr lang="pl-PL" sz="2800" dirty="0" err="1"/>
              <a:t>making</a:t>
            </a:r>
            <a:r>
              <a:rPr lang="pl-PL" sz="2800" dirty="0"/>
              <a:t> </a:t>
            </a:r>
            <a:r>
              <a:rPr lang="pl-PL" sz="2800" dirty="0" err="1"/>
              <a:t>sense</a:t>
            </a:r>
            <a:r>
              <a:rPr lang="pl-PL" sz="2800" dirty="0"/>
              <a:t> of the </a:t>
            </a:r>
            <a:r>
              <a:rPr lang="pl-PL" sz="2800" dirty="0" err="1"/>
              <a:t>rich</a:t>
            </a:r>
            <a:r>
              <a:rPr lang="pl-PL" sz="2800" dirty="0"/>
              <a:t> </a:t>
            </a:r>
            <a:r>
              <a:rPr lang="pl-PL" sz="2800" dirty="0" err="1"/>
              <a:t>literature</a:t>
            </a:r>
            <a:r>
              <a:rPr lang="pl-PL" sz="2800" dirty="0"/>
              <a:t> and </a:t>
            </a:r>
            <a:r>
              <a:rPr lang="pl-PL" sz="2800" dirty="0" err="1"/>
              <a:t>conceptual</a:t>
            </a:r>
            <a:r>
              <a:rPr lang="pl-PL" sz="2800" dirty="0"/>
              <a:t> order</a:t>
            </a:r>
          </a:p>
        </p:txBody>
      </p:sp>
      <p:sp>
        <p:nvSpPr>
          <p:cNvPr id="3" name="Symbol zastępczy zawartości 2">
            <a:extLst>
              <a:ext uri="{FF2B5EF4-FFF2-40B4-BE49-F238E27FC236}">
                <a16:creationId xmlns:a16="http://schemas.microsoft.com/office/drawing/2014/main" id="{45758B69-2E7E-4276-8958-46F1EA09E63E}"/>
              </a:ext>
            </a:extLst>
          </p:cNvPr>
          <p:cNvSpPr>
            <a:spLocks noGrp="1"/>
          </p:cNvSpPr>
          <p:nvPr>
            <p:ph idx="1"/>
          </p:nvPr>
        </p:nvSpPr>
        <p:spPr>
          <a:xfrm>
            <a:off x="838200" y="1158240"/>
            <a:ext cx="10515600" cy="5018723"/>
          </a:xfrm>
        </p:spPr>
        <p:txBody>
          <a:bodyPr>
            <a:normAutofit fontScale="92500" lnSpcReduction="10000"/>
          </a:bodyPr>
          <a:lstStyle/>
          <a:p>
            <a:r>
              <a:rPr lang="en-US" sz="2800" cap="none" dirty="0">
                <a:latin typeface="Corbel" panose="020B0503020204020204" pitchFamily="34" charset="0"/>
              </a:rPr>
              <a:t>Populism, illiberalism, and authoritarianism</a:t>
            </a:r>
            <a:r>
              <a:rPr lang="pl-PL" sz="2800" cap="none" dirty="0">
                <a:latin typeface="Corbel" panose="020B0503020204020204" pitchFamily="34" charset="0"/>
              </a:rPr>
              <a:t> (PIA)</a:t>
            </a:r>
            <a:r>
              <a:rPr lang="pl-PL" dirty="0">
                <a:latin typeface="Corbel" panose="020B0503020204020204" pitchFamily="34" charset="0"/>
              </a:rPr>
              <a:t> </a:t>
            </a:r>
            <a:r>
              <a:rPr lang="pl-PL" dirty="0" err="1">
                <a:latin typeface="Corbel" panose="020B0503020204020204" pitchFamily="34" charset="0"/>
              </a:rPr>
              <a:t>used</a:t>
            </a:r>
            <a:r>
              <a:rPr lang="pl-PL" dirty="0">
                <a:latin typeface="Corbel" panose="020B0503020204020204" pitchFamily="34" charset="0"/>
              </a:rPr>
              <a:t> </a:t>
            </a:r>
            <a:r>
              <a:rPr lang="pl-PL" dirty="0" err="1">
                <a:latin typeface="Corbel" panose="020B0503020204020204" pitchFamily="34" charset="0"/>
              </a:rPr>
              <a:t>interchangeably</a:t>
            </a:r>
            <a:endParaRPr lang="pl-PL" sz="2800" cap="none" dirty="0">
              <a:latin typeface="Corbel" panose="020B0503020204020204" pitchFamily="34" charset="0"/>
            </a:endParaRPr>
          </a:p>
          <a:p>
            <a:endParaRPr lang="pl-PL" sz="2800" dirty="0">
              <a:latin typeface="Corbel" panose="020B0503020204020204" pitchFamily="34" charset="0"/>
            </a:endParaRPr>
          </a:p>
          <a:p>
            <a:r>
              <a:rPr lang="en-US" sz="2800" cap="none" dirty="0">
                <a:latin typeface="Corbel" panose="020B0503020204020204" pitchFamily="34" charset="0"/>
              </a:rPr>
              <a:t>All three challenge different aspects of liberal democracies</a:t>
            </a:r>
            <a:r>
              <a:rPr lang="pl-PL" sz="2800" cap="none" dirty="0">
                <a:latin typeface="Corbel" panose="020B0503020204020204" pitchFamily="34" charset="0"/>
              </a:rPr>
              <a:t> (</a:t>
            </a:r>
            <a:r>
              <a:rPr lang="pl-PL" sz="2800" cap="none" dirty="0" err="1">
                <a:latin typeface="Corbel" panose="020B0503020204020204" pitchFamily="34" charset="0"/>
              </a:rPr>
              <a:t>LDs</a:t>
            </a:r>
            <a:r>
              <a:rPr lang="pl-PL" sz="2800" cap="none" dirty="0">
                <a:latin typeface="Corbel" panose="020B0503020204020204" pitchFamily="34" charset="0"/>
              </a:rPr>
              <a:t>)</a:t>
            </a:r>
            <a:r>
              <a:rPr lang="en-US" sz="2800" cap="none" dirty="0">
                <a:latin typeface="Corbel" panose="020B0503020204020204" pitchFamily="34" charset="0"/>
              </a:rPr>
              <a:t>, </a:t>
            </a:r>
            <a:r>
              <a:rPr lang="en-US" sz="2800" b="1" cap="none" dirty="0">
                <a:latin typeface="Corbel" panose="020B0503020204020204" pitchFamily="34" charset="0"/>
              </a:rPr>
              <a:t>unveil specific traits and manifest idiosyncratic developments. </a:t>
            </a:r>
            <a:endParaRPr lang="pl-PL" sz="2800" b="1" cap="none" dirty="0">
              <a:latin typeface="Corbel" panose="020B0503020204020204" pitchFamily="34" charset="0"/>
            </a:endParaRPr>
          </a:p>
          <a:p>
            <a:endParaRPr lang="pl-PL" sz="2800" b="1" dirty="0">
              <a:latin typeface="Corbel" panose="020B0503020204020204" pitchFamily="34" charset="0"/>
            </a:endParaRPr>
          </a:p>
          <a:p>
            <a:r>
              <a:rPr lang="en-US" sz="2800" cap="none" dirty="0">
                <a:latin typeface="Corbel" panose="020B0503020204020204" pitchFamily="34" charset="0"/>
              </a:rPr>
              <a:t>Divergent factors determine them and are facilitated by different socio-political </a:t>
            </a:r>
            <a:r>
              <a:rPr lang="en-US" sz="2800" b="1" cap="none" dirty="0">
                <a:latin typeface="Corbel" panose="020B0503020204020204" pitchFamily="34" charset="0"/>
              </a:rPr>
              <a:t>contexts.</a:t>
            </a:r>
            <a:r>
              <a:rPr lang="en-US" sz="2800" cap="none" dirty="0">
                <a:latin typeface="Corbel" panose="020B0503020204020204" pitchFamily="34" charset="0"/>
              </a:rPr>
              <a:t> </a:t>
            </a:r>
            <a:endParaRPr lang="pl-PL" sz="2800" cap="none" dirty="0">
              <a:latin typeface="Corbel" panose="020B0503020204020204" pitchFamily="34" charset="0"/>
            </a:endParaRPr>
          </a:p>
          <a:p>
            <a:endParaRPr lang="pl-PL" sz="2800" b="1" cap="none" dirty="0">
              <a:latin typeface="Corbel" panose="020B0503020204020204" pitchFamily="34" charset="0"/>
            </a:endParaRPr>
          </a:p>
          <a:p>
            <a:r>
              <a:rPr lang="en-US" sz="2800" b="1" cap="none" dirty="0">
                <a:latin typeface="Corbel" panose="020B0503020204020204" pitchFamily="34" charset="0"/>
              </a:rPr>
              <a:t>Conceptual order is needed</a:t>
            </a:r>
            <a:r>
              <a:rPr lang="en-US" sz="2800" cap="none" dirty="0">
                <a:latin typeface="Corbel" panose="020B0503020204020204" pitchFamily="34" charset="0"/>
              </a:rPr>
              <a:t>. </a:t>
            </a:r>
            <a:endParaRPr lang="pl-PL" sz="2800" cap="none" dirty="0">
              <a:latin typeface="Corbel" panose="020B0503020204020204" pitchFamily="34" charset="0"/>
            </a:endParaRPr>
          </a:p>
          <a:p>
            <a:endParaRPr lang="pl-PL" sz="2800" cap="none" dirty="0">
              <a:latin typeface="Corbel" panose="020B0503020204020204" pitchFamily="34" charset="0"/>
            </a:endParaRPr>
          </a:p>
          <a:p>
            <a:r>
              <a:rPr lang="pl-PL" sz="2800" cap="none" dirty="0">
                <a:latin typeface="Corbel" panose="020B0503020204020204" pitchFamily="34" charset="0"/>
              </a:rPr>
              <a:t>PIA </a:t>
            </a:r>
            <a:r>
              <a:rPr lang="en-US" sz="2800" cap="none" dirty="0">
                <a:latin typeface="Corbel" panose="020B0503020204020204" pitchFamily="34" charset="0"/>
              </a:rPr>
              <a:t>regimes competing with </a:t>
            </a:r>
            <a:r>
              <a:rPr lang="pl-PL" sz="2800" dirty="0" err="1">
                <a:latin typeface="Corbel" panose="020B0503020204020204" pitchFamily="34" charset="0"/>
              </a:rPr>
              <a:t>LDs</a:t>
            </a:r>
            <a:r>
              <a:rPr lang="en-US" sz="2800" cap="none" dirty="0">
                <a:latin typeface="Corbel" panose="020B0503020204020204" pitchFamily="34" charset="0"/>
              </a:rPr>
              <a:t> </a:t>
            </a:r>
            <a:r>
              <a:rPr lang="en-US" sz="2800" b="1" cap="none" dirty="0">
                <a:latin typeface="Corbel" panose="020B0503020204020204" pitchFamily="34" charset="0"/>
              </a:rPr>
              <a:t>placed within the grand frame of recent history, time sequence, and multiple contextual impacts</a:t>
            </a:r>
            <a:r>
              <a:rPr lang="pl-PL" sz="2800" b="1" cap="none" dirty="0">
                <a:latin typeface="Corbel" panose="020B0503020204020204" pitchFamily="34" charset="0"/>
              </a:rPr>
              <a:t>.</a:t>
            </a:r>
          </a:p>
          <a:p>
            <a:endParaRPr lang="pl-PL" dirty="0"/>
          </a:p>
        </p:txBody>
      </p:sp>
    </p:spTree>
    <p:extLst>
      <p:ext uri="{BB962C8B-B14F-4D97-AF65-F5344CB8AC3E}">
        <p14:creationId xmlns:p14="http://schemas.microsoft.com/office/powerpoint/2010/main" val="3169623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7CBCF07-3617-430B-9B2B-EBF1D19CFCCB}"/>
              </a:ext>
            </a:extLst>
          </p:cNvPr>
          <p:cNvSpPr>
            <a:spLocks noGrp="1"/>
          </p:cNvSpPr>
          <p:nvPr>
            <p:ph type="title"/>
          </p:nvPr>
        </p:nvSpPr>
        <p:spPr>
          <a:xfrm>
            <a:off x="838200" y="0"/>
            <a:ext cx="10515600" cy="1144588"/>
          </a:xfrm>
        </p:spPr>
        <p:txBody>
          <a:bodyPr>
            <a:normAutofit/>
          </a:bodyPr>
          <a:lstStyle/>
          <a:p>
            <a:r>
              <a:rPr lang="pl-PL" sz="2400" dirty="0" err="1"/>
              <a:t>Populism</a:t>
            </a:r>
            <a:r>
              <a:rPr lang="pl-PL" sz="2400" dirty="0"/>
              <a:t> – </a:t>
            </a:r>
            <a:r>
              <a:rPr lang="pl-PL" sz="2400" dirty="0" err="1"/>
              <a:t>Illiberalism</a:t>
            </a:r>
            <a:r>
              <a:rPr lang="pl-PL" sz="2400" dirty="0"/>
              <a:t> – </a:t>
            </a:r>
            <a:r>
              <a:rPr lang="pl-PL" sz="2400" dirty="0" err="1"/>
              <a:t>Authoritarianism</a:t>
            </a:r>
            <a:r>
              <a:rPr lang="pl-PL" sz="2400" dirty="0"/>
              <a:t>: </a:t>
            </a:r>
            <a:r>
              <a:rPr lang="pl-PL" sz="2400" dirty="0" err="1"/>
              <a:t>overlaps</a:t>
            </a:r>
            <a:r>
              <a:rPr lang="pl-PL" sz="2400" dirty="0"/>
              <a:t> &amp; </a:t>
            </a:r>
            <a:r>
              <a:rPr lang="pl-PL" sz="2400" dirty="0" err="1"/>
              <a:t>idiosyncrasies</a:t>
            </a:r>
            <a:endParaRPr lang="pl-PL" sz="2400" dirty="0"/>
          </a:p>
        </p:txBody>
      </p:sp>
      <p:pic>
        <p:nvPicPr>
          <p:cNvPr id="4" name="Picture 3">
            <a:extLst>
              <a:ext uri="{FF2B5EF4-FFF2-40B4-BE49-F238E27FC236}">
                <a16:creationId xmlns:a16="http://schemas.microsoft.com/office/drawing/2014/main" id="{440D86B6-0526-419E-9382-331B6AFA9259}"/>
              </a:ext>
            </a:extLst>
          </p:cNvPr>
          <p:cNvPicPr>
            <a:picLocks noChangeAspect="1"/>
          </p:cNvPicPr>
          <p:nvPr/>
        </p:nvPicPr>
        <p:blipFill>
          <a:blip r:embed="rId2"/>
          <a:stretch>
            <a:fillRect/>
          </a:stretch>
        </p:blipFill>
        <p:spPr>
          <a:xfrm>
            <a:off x="2484120" y="975360"/>
            <a:ext cx="7147559" cy="5201603"/>
          </a:xfrm>
          <a:prstGeom prst="rect">
            <a:avLst/>
          </a:prstGeom>
        </p:spPr>
      </p:pic>
    </p:spTree>
    <p:extLst>
      <p:ext uri="{BB962C8B-B14F-4D97-AF65-F5344CB8AC3E}">
        <p14:creationId xmlns:p14="http://schemas.microsoft.com/office/powerpoint/2010/main" val="2523876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C22B75-4F1A-491A-9543-B958A7CADBDF}"/>
              </a:ext>
            </a:extLst>
          </p:cNvPr>
          <p:cNvSpPr>
            <a:spLocks noGrp="1"/>
          </p:cNvSpPr>
          <p:nvPr>
            <p:ph type="title"/>
          </p:nvPr>
        </p:nvSpPr>
        <p:spPr>
          <a:xfrm>
            <a:off x="838200" y="365125"/>
            <a:ext cx="10515600" cy="677863"/>
          </a:xfrm>
        </p:spPr>
        <p:txBody>
          <a:bodyPr>
            <a:normAutofit fontScale="90000"/>
          </a:bodyPr>
          <a:lstStyle/>
          <a:p>
            <a:r>
              <a:rPr lang="pl-PL" dirty="0"/>
              <a:t>Dynamics</a:t>
            </a:r>
          </a:p>
        </p:txBody>
      </p:sp>
      <p:sp>
        <p:nvSpPr>
          <p:cNvPr id="3" name="Symbol zastępczy zawartości 2">
            <a:extLst>
              <a:ext uri="{FF2B5EF4-FFF2-40B4-BE49-F238E27FC236}">
                <a16:creationId xmlns:a16="http://schemas.microsoft.com/office/drawing/2014/main" id="{D8358221-1950-4C72-BBE8-5A20865A87BA}"/>
              </a:ext>
            </a:extLst>
          </p:cNvPr>
          <p:cNvSpPr>
            <a:spLocks noGrp="1"/>
          </p:cNvSpPr>
          <p:nvPr>
            <p:ph idx="1"/>
          </p:nvPr>
        </p:nvSpPr>
        <p:spPr>
          <a:xfrm>
            <a:off x="838200" y="1357313"/>
            <a:ext cx="10515600" cy="4819650"/>
          </a:xfrm>
        </p:spPr>
        <p:txBody>
          <a:bodyPr>
            <a:normAutofit lnSpcReduction="10000"/>
          </a:bodyPr>
          <a:lstStyle/>
          <a:p>
            <a:pPr marL="0" indent="0">
              <a:buNone/>
            </a:pPr>
            <a:r>
              <a:rPr lang="pl-PL" b="1" noProof="1">
                <a:latin typeface="Corbel" panose="020B0503020204020204" pitchFamily="34" charset="0"/>
              </a:rPr>
              <a:t>PIA </a:t>
            </a:r>
            <a:r>
              <a:rPr lang="pl-PL" noProof="1">
                <a:latin typeface="Corbel" panose="020B0503020204020204" pitchFamily="34" charset="0"/>
              </a:rPr>
              <a:t>phenomena (as set of ideas, ideologies and regimes) ought to be </a:t>
            </a:r>
            <a:r>
              <a:rPr lang="pl-PL" b="1" noProof="1">
                <a:latin typeface="Corbel" panose="020B0503020204020204" pitchFamily="34" charset="0"/>
              </a:rPr>
              <a:t>analized dynamically </a:t>
            </a:r>
            <a:r>
              <a:rPr lang="pl-PL" b="1" noProof="1">
                <a:latin typeface="Corbel" panose="020B0503020204020204" pitchFamily="34" charset="0"/>
                <a:sym typeface="Wingdings" panose="05000000000000000000" pitchFamily="2" charset="2"/>
              </a:rPr>
              <a:t> </a:t>
            </a:r>
            <a:r>
              <a:rPr lang="pl-PL" noProof="1">
                <a:latin typeface="Corbel" panose="020B0503020204020204" pitchFamily="34" charset="0"/>
                <a:sym typeface="Wingdings" panose="05000000000000000000" pitchFamily="2" charset="2"/>
              </a:rPr>
              <a:t>their </a:t>
            </a:r>
            <a:r>
              <a:rPr lang="pl-PL" b="1" noProof="1">
                <a:latin typeface="Corbel" panose="020B0503020204020204" pitchFamily="34" charset="0"/>
                <a:sym typeface="Wingdings" panose="05000000000000000000" pitchFamily="2" charset="2"/>
              </a:rPr>
              <a:t>sequence and gradualism </a:t>
            </a:r>
            <a:endParaRPr lang="pl-PL" noProof="1">
              <a:latin typeface="Corbel" panose="020B0503020204020204" pitchFamily="34" charset="0"/>
              <a:sym typeface="Wingdings" panose="05000000000000000000" pitchFamily="2" charset="2"/>
            </a:endParaRPr>
          </a:p>
          <a:p>
            <a:pPr marL="0" indent="0">
              <a:buNone/>
            </a:pPr>
            <a:r>
              <a:rPr lang="pl-PL" noProof="1">
                <a:latin typeface="Corbel" panose="020B0503020204020204" pitchFamily="34" charset="0"/>
                <a:sym typeface="Wingdings" panose="05000000000000000000" pitchFamily="2" charset="2"/>
              </a:rPr>
              <a:t>Typically: </a:t>
            </a:r>
            <a:r>
              <a:rPr lang="pl-PL" b="1" noProof="1">
                <a:latin typeface="Corbel" panose="020B0503020204020204" pitchFamily="34" charset="0"/>
                <a:sym typeface="Wingdings" panose="05000000000000000000" pitchFamily="2" charset="2"/>
              </a:rPr>
              <a:t>dismantling of LDs </a:t>
            </a:r>
            <a:r>
              <a:rPr lang="pl-PL" b="1" noProof="1">
                <a:solidFill>
                  <a:srgbClr val="FF0000"/>
                </a:solidFill>
                <a:latin typeface="Corbel" panose="020B0503020204020204" pitchFamily="34" charset="0"/>
                <a:sym typeface="Wingdings" panose="05000000000000000000" pitchFamily="2" charset="2"/>
              </a:rPr>
              <a:t>starts with Populism</a:t>
            </a:r>
            <a:r>
              <a:rPr lang="pl-PL" noProof="1">
                <a:solidFill>
                  <a:srgbClr val="FF0000"/>
                </a:solidFill>
                <a:latin typeface="Corbel" panose="020B0503020204020204" pitchFamily="34" charset="0"/>
                <a:sym typeface="Wingdings" panose="05000000000000000000" pitchFamily="2" charset="2"/>
              </a:rPr>
              <a:t> </a:t>
            </a:r>
            <a:r>
              <a:rPr lang="pl-PL" noProof="1">
                <a:latin typeface="Corbel" panose="020B0503020204020204" pitchFamily="34" charset="0"/>
                <a:sym typeface="Wingdings" panose="05000000000000000000" pitchFamily="2" charset="2"/>
              </a:rPr>
              <a:t>as it is  relatively ”easy  &amp; low cost” &amp; seems democratically legitimate.</a:t>
            </a:r>
          </a:p>
          <a:p>
            <a:pPr marL="0" indent="0">
              <a:buNone/>
            </a:pPr>
            <a:r>
              <a:rPr lang="pl-PL" noProof="1">
                <a:latin typeface="Corbel" panose="020B0503020204020204" pitchFamily="34" charset="0"/>
                <a:sym typeface="Wingdings" panose="05000000000000000000" pitchFamily="2" charset="2"/>
              </a:rPr>
              <a:t>Next: Illiberalism</a:t>
            </a:r>
          </a:p>
          <a:p>
            <a:pPr marL="0" indent="0">
              <a:buNone/>
            </a:pPr>
            <a:r>
              <a:rPr lang="pl-PL" noProof="1">
                <a:latin typeface="Corbel" panose="020B0503020204020204" pitchFamily="34" charset="0"/>
                <a:sym typeface="Wingdings" panose="05000000000000000000" pitchFamily="2" charset="2"/>
              </a:rPr>
              <a:t>Next: Authoritarianism</a:t>
            </a:r>
          </a:p>
          <a:p>
            <a:pPr marL="0" indent="0">
              <a:buNone/>
            </a:pPr>
            <a:endParaRPr lang="pl-PL" noProof="1">
              <a:latin typeface="Corbel" panose="020B0503020204020204" pitchFamily="34" charset="0"/>
              <a:sym typeface="Wingdings" panose="05000000000000000000" pitchFamily="2" charset="2"/>
            </a:endParaRPr>
          </a:p>
          <a:p>
            <a:pPr marL="0" indent="0">
              <a:buNone/>
            </a:pPr>
            <a:r>
              <a:rPr lang="pl-PL" b="1" noProof="1">
                <a:latin typeface="Corbel" panose="020B0503020204020204" pitchFamily="34" charset="0"/>
                <a:sym typeface="Wingdings" panose="05000000000000000000" pitchFamily="2" charset="2"/>
              </a:rPr>
              <a:t>The sequence is by no means deterministic, nor universal.</a:t>
            </a:r>
          </a:p>
          <a:p>
            <a:pPr marL="0" indent="0">
              <a:buNone/>
            </a:pPr>
            <a:endParaRPr lang="pl-PL" noProof="1">
              <a:latin typeface="Corbel" panose="020B0503020204020204" pitchFamily="34" charset="0"/>
              <a:sym typeface="Wingdings" panose="05000000000000000000" pitchFamily="2" charset="2"/>
            </a:endParaRPr>
          </a:p>
          <a:p>
            <a:pPr marL="0" indent="0">
              <a:buNone/>
            </a:pPr>
            <a:r>
              <a:rPr lang="pl-PL" b="1" noProof="1">
                <a:latin typeface="Corbel" panose="020B0503020204020204" pitchFamily="34" charset="0"/>
                <a:sym typeface="Wingdings" panose="05000000000000000000" pitchFamily="2" charset="2"/>
              </a:rPr>
              <a:t>Reverse developments </a:t>
            </a:r>
            <a:r>
              <a:rPr lang="pl-PL" noProof="1">
                <a:latin typeface="Corbel" panose="020B0503020204020204" pitchFamily="34" charset="0"/>
                <a:sym typeface="Wingdings" panose="05000000000000000000" pitchFamily="2" charset="2"/>
              </a:rPr>
              <a:t>happen – and depend on the public reaction</a:t>
            </a:r>
          </a:p>
          <a:p>
            <a:endParaRPr lang="pl-PL" dirty="0"/>
          </a:p>
        </p:txBody>
      </p:sp>
    </p:spTree>
    <p:extLst>
      <p:ext uri="{BB962C8B-B14F-4D97-AF65-F5344CB8AC3E}">
        <p14:creationId xmlns:p14="http://schemas.microsoft.com/office/powerpoint/2010/main" val="226722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B40332C-082C-4098-BE55-2DE5187D6649}"/>
              </a:ext>
            </a:extLst>
          </p:cNvPr>
          <p:cNvSpPr>
            <a:spLocks noGrp="1"/>
          </p:cNvSpPr>
          <p:nvPr>
            <p:ph type="title"/>
          </p:nvPr>
        </p:nvSpPr>
        <p:spPr>
          <a:xfrm>
            <a:off x="838200" y="345757"/>
            <a:ext cx="10515600" cy="670560"/>
          </a:xfrm>
        </p:spPr>
        <p:txBody>
          <a:bodyPr>
            <a:normAutofit/>
          </a:bodyPr>
          <a:lstStyle/>
          <a:p>
            <a:r>
              <a:rPr lang="pl-PL" sz="3200" dirty="0" err="1"/>
              <a:t>Concluding</a:t>
            </a:r>
            <a:r>
              <a:rPr lang="pl-PL" sz="3200" dirty="0"/>
              <a:t> </a:t>
            </a:r>
            <a:r>
              <a:rPr lang="pl-PL" sz="3200" dirty="0" err="1"/>
              <a:t>final</a:t>
            </a:r>
            <a:r>
              <a:rPr lang="pl-PL" sz="3200" dirty="0"/>
              <a:t> </a:t>
            </a:r>
            <a:r>
              <a:rPr lang="pl-PL" sz="3200" dirty="0" err="1"/>
              <a:t>sentence</a:t>
            </a:r>
            <a:r>
              <a:rPr lang="pl-PL" sz="3200" dirty="0"/>
              <a:t> of D2.1</a:t>
            </a:r>
          </a:p>
        </p:txBody>
      </p:sp>
      <p:sp>
        <p:nvSpPr>
          <p:cNvPr id="3" name="Symbol zastępczy zawartości 2">
            <a:extLst>
              <a:ext uri="{FF2B5EF4-FFF2-40B4-BE49-F238E27FC236}">
                <a16:creationId xmlns:a16="http://schemas.microsoft.com/office/drawing/2014/main" id="{883A2068-5242-4411-9C67-2D887628AEB2}"/>
              </a:ext>
            </a:extLst>
          </p:cNvPr>
          <p:cNvSpPr>
            <a:spLocks noGrp="1"/>
          </p:cNvSpPr>
          <p:nvPr>
            <p:ph idx="1"/>
          </p:nvPr>
        </p:nvSpPr>
        <p:spPr>
          <a:xfrm>
            <a:off x="838200" y="807720"/>
            <a:ext cx="10515600" cy="5369243"/>
          </a:xfrm>
        </p:spPr>
        <p:txBody>
          <a:bodyPr>
            <a:normAutofit/>
          </a:bodyPr>
          <a:lstStyle/>
          <a:p>
            <a:pPr marL="0" indent="0">
              <a:buNone/>
            </a:pPr>
            <a:endParaRPr lang="pl-PL" sz="3600" dirty="0">
              <a:solidFill>
                <a:srgbClr val="000000"/>
              </a:solidFill>
              <a:effectLst/>
              <a:latin typeface="Times New Roman" panose="02020603050405020304" pitchFamily="18" charset="0"/>
              <a:ea typeface="Calibri" panose="020F0502020204030204" pitchFamily="34" charset="0"/>
            </a:endParaRPr>
          </a:p>
          <a:p>
            <a:pPr marL="0" indent="0">
              <a:buNone/>
            </a:pPr>
            <a:r>
              <a:rPr lang="en-GB" sz="3200" dirty="0">
                <a:solidFill>
                  <a:srgbClr val="000000"/>
                </a:solidFill>
                <a:effectLst/>
                <a:latin typeface="Corbel" panose="020B0503020204020204" pitchFamily="34" charset="0"/>
                <a:ea typeface="Calibri" panose="020F0502020204030204" pitchFamily="34" charset="0"/>
              </a:rPr>
              <a:t>“We need empirical data to see where exactly illiberalism is situated on the democracy-autocracy axis, to what extent it is driven by a coherent set of values, and whether it is a transient phenomenon or if it is here to stay, eventually consolidating into a distinct regime type.”</a:t>
            </a:r>
            <a:endParaRPr lang="pl-PL" sz="3200" dirty="0">
              <a:latin typeface="Corbel" panose="020B0503020204020204" pitchFamily="34" charset="0"/>
            </a:endParaRPr>
          </a:p>
        </p:txBody>
      </p:sp>
    </p:spTree>
    <p:extLst>
      <p:ext uri="{BB962C8B-B14F-4D97-AF65-F5344CB8AC3E}">
        <p14:creationId xmlns:p14="http://schemas.microsoft.com/office/powerpoint/2010/main" val="3681031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a:bodyPr>
          <a:lstStyle/>
          <a:p>
            <a:r>
              <a:rPr lang="en-US" sz="2800" b="1" dirty="0">
                <a:latin typeface="Corbel" panose="020B0503020204020204" pitchFamily="34" charset="0"/>
                <a:ea typeface="Corbel" panose="020B0503020204020204" pitchFamily="34" charset="0"/>
                <a:cs typeface="Corbel" panose="020B0503020204020204" pitchFamily="34" charset="0"/>
              </a:rPr>
              <a:t>D2.2 </a:t>
            </a:r>
            <a:r>
              <a:rPr lang="en-US" sz="2800" b="1" dirty="0">
                <a:effectLst/>
                <a:latin typeface="Corbel" panose="020B0503020204020204" pitchFamily="34" charset="0"/>
                <a:ea typeface="Corbel" panose="020B0503020204020204" pitchFamily="34" charset="0"/>
                <a:cs typeface="Corbel" panose="020B0503020204020204" pitchFamily="34" charset="0"/>
              </a:rPr>
              <a:t>Guidelines for Empirical Data Collection</a:t>
            </a: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9"/>
            <a:ext cx="11567160" cy="4750934"/>
          </a:xfrm>
        </p:spPr>
        <p:txBody>
          <a:bodyPr/>
          <a:lstStyle/>
          <a:p>
            <a:pPr marL="514350" indent="-514350">
              <a:buFont typeface="+mj-lt"/>
              <a:buAutoNum type="arabicPeriod"/>
            </a:pPr>
            <a:r>
              <a:rPr lang="pl-PL" dirty="0" err="1"/>
              <a:t>Research</a:t>
            </a:r>
            <a:r>
              <a:rPr lang="pl-PL" dirty="0"/>
              <a:t> </a:t>
            </a:r>
            <a:r>
              <a:rPr lang="pl-PL" dirty="0" err="1"/>
              <a:t>questions</a:t>
            </a:r>
            <a:r>
              <a:rPr lang="pl-PL" dirty="0"/>
              <a:t> </a:t>
            </a:r>
            <a:r>
              <a:rPr lang="pl-PL" dirty="0" err="1"/>
              <a:t>were</a:t>
            </a:r>
            <a:r>
              <a:rPr lang="pl-PL" dirty="0"/>
              <a:t> </a:t>
            </a:r>
            <a:r>
              <a:rPr lang="pl-PL" dirty="0" err="1"/>
              <a:t>specified</a:t>
            </a:r>
            <a:r>
              <a:rPr lang="pl-PL" dirty="0"/>
              <a:t> and – </a:t>
            </a:r>
            <a:r>
              <a:rPr lang="pl-PL" dirty="0" err="1"/>
              <a:t>where</a:t>
            </a:r>
            <a:r>
              <a:rPr lang="pl-PL" dirty="0"/>
              <a:t> </a:t>
            </a:r>
            <a:r>
              <a:rPr lang="pl-PL" dirty="0" err="1"/>
              <a:t>possible</a:t>
            </a:r>
            <a:r>
              <a:rPr lang="pl-PL" dirty="0"/>
              <a:t> – </a:t>
            </a:r>
            <a:r>
              <a:rPr lang="pl-PL" dirty="0" err="1"/>
              <a:t>structured</a:t>
            </a:r>
            <a:r>
              <a:rPr lang="pl-PL" dirty="0"/>
              <a:t> </a:t>
            </a:r>
            <a:r>
              <a:rPr lang="pl-PL" dirty="0" err="1"/>
              <a:t>hypotheses</a:t>
            </a:r>
            <a:r>
              <a:rPr lang="pl-PL" dirty="0"/>
              <a:t> </a:t>
            </a:r>
            <a:r>
              <a:rPr lang="pl-PL" dirty="0" err="1"/>
              <a:t>were</a:t>
            </a:r>
            <a:r>
              <a:rPr lang="pl-PL" dirty="0"/>
              <a:t> </a:t>
            </a:r>
            <a:r>
              <a:rPr lang="pl-PL" dirty="0" err="1"/>
              <a:t>put</a:t>
            </a:r>
            <a:r>
              <a:rPr lang="pl-PL" dirty="0"/>
              <a:t> </a:t>
            </a:r>
            <a:r>
              <a:rPr lang="pl-PL" dirty="0" err="1"/>
              <a:t>forward</a:t>
            </a:r>
            <a:r>
              <a:rPr lang="pl-PL" dirty="0"/>
              <a:t>. </a:t>
            </a:r>
          </a:p>
          <a:p>
            <a:pPr marL="514350" indent="-514350">
              <a:buFont typeface="+mj-lt"/>
              <a:buAutoNum type="arabicPeriod"/>
            </a:pPr>
            <a:r>
              <a:rPr lang="pl-PL" dirty="0"/>
              <a:t>The </a:t>
            </a:r>
            <a:r>
              <a:rPr lang="pl-PL" dirty="0" err="1"/>
              <a:t>levels</a:t>
            </a:r>
            <a:r>
              <a:rPr lang="pl-PL" dirty="0"/>
              <a:t> and </a:t>
            </a:r>
            <a:r>
              <a:rPr lang="pl-PL" dirty="0" err="1"/>
              <a:t>units</a:t>
            </a:r>
            <a:r>
              <a:rPr lang="pl-PL" dirty="0"/>
              <a:t> of </a:t>
            </a:r>
            <a:r>
              <a:rPr lang="pl-PL" dirty="0" err="1"/>
              <a:t>analysis</a:t>
            </a:r>
            <a:r>
              <a:rPr lang="pl-PL" dirty="0"/>
              <a:t> </a:t>
            </a:r>
            <a:r>
              <a:rPr lang="pl-PL" dirty="0" err="1"/>
              <a:t>were</a:t>
            </a:r>
            <a:r>
              <a:rPr lang="pl-PL" dirty="0"/>
              <a:t> </a:t>
            </a:r>
            <a:r>
              <a:rPr lang="pl-PL" dirty="0" err="1"/>
              <a:t>identified</a:t>
            </a:r>
            <a:r>
              <a:rPr lang="pl-PL" dirty="0"/>
              <a:t>. </a:t>
            </a:r>
          </a:p>
          <a:p>
            <a:pPr marL="514350" indent="-514350">
              <a:buFont typeface="+mj-lt"/>
              <a:buAutoNum type="arabicPeriod"/>
            </a:pPr>
            <a:r>
              <a:rPr lang="pl-PL" dirty="0" err="1"/>
              <a:t>Methods</a:t>
            </a:r>
            <a:r>
              <a:rPr lang="pl-PL" dirty="0"/>
              <a:t> and </a:t>
            </a:r>
            <a:r>
              <a:rPr lang="pl-PL" dirty="0" err="1"/>
              <a:t>existing</a:t>
            </a:r>
            <a:r>
              <a:rPr lang="pl-PL" dirty="0"/>
              <a:t> data </a:t>
            </a:r>
            <a:r>
              <a:rPr lang="pl-PL" dirty="0" err="1"/>
              <a:t>sources</a:t>
            </a:r>
            <a:r>
              <a:rPr lang="pl-PL" dirty="0"/>
              <a:t> </a:t>
            </a:r>
            <a:r>
              <a:rPr lang="pl-PL" dirty="0" err="1"/>
              <a:t>were</a:t>
            </a:r>
            <a:r>
              <a:rPr lang="pl-PL" dirty="0"/>
              <a:t> </a:t>
            </a:r>
            <a:r>
              <a:rPr lang="pl-PL" dirty="0" err="1"/>
              <a:t>outlined</a:t>
            </a:r>
            <a:r>
              <a:rPr lang="pl-PL" dirty="0"/>
              <a:t>. </a:t>
            </a:r>
          </a:p>
          <a:p>
            <a:pPr marL="514350" indent="-514350">
              <a:buFont typeface="+mj-lt"/>
              <a:buAutoNum type="arabicPeriod"/>
            </a:pPr>
            <a:r>
              <a:rPr lang="pl-PL" dirty="0"/>
              <a:t>Central </a:t>
            </a:r>
            <a:r>
              <a:rPr lang="pl-PL" dirty="0" err="1"/>
              <a:t>issues</a:t>
            </a:r>
            <a:r>
              <a:rPr lang="pl-PL" dirty="0"/>
              <a:t> and </a:t>
            </a:r>
            <a:r>
              <a:rPr lang="pl-PL" dirty="0" err="1"/>
              <a:t>dimensions</a:t>
            </a:r>
            <a:r>
              <a:rPr lang="pl-PL" dirty="0"/>
              <a:t> </a:t>
            </a:r>
            <a:r>
              <a:rPr lang="pl-PL" dirty="0" err="1"/>
              <a:t>were</a:t>
            </a:r>
            <a:r>
              <a:rPr lang="pl-PL" dirty="0"/>
              <a:t> </a:t>
            </a:r>
            <a:r>
              <a:rPr lang="pl-PL" dirty="0" err="1"/>
              <a:t>described</a:t>
            </a:r>
            <a:r>
              <a:rPr lang="pl-PL" dirty="0"/>
              <a:t>. </a:t>
            </a:r>
          </a:p>
        </p:txBody>
      </p:sp>
    </p:spTree>
    <p:extLst>
      <p:ext uri="{BB962C8B-B14F-4D97-AF65-F5344CB8AC3E}">
        <p14:creationId xmlns:p14="http://schemas.microsoft.com/office/powerpoint/2010/main" val="3047652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a:bodyPr>
          <a:lstStyle/>
          <a:p>
            <a:r>
              <a:rPr lang="en-US" sz="2800" b="1" dirty="0">
                <a:latin typeface="Corbel" panose="020B0503020204020204" pitchFamily="34" charset="0"/>
                <a:ea typeface="Corbel" panose="020B0503020204020204" pitchFamily="34" charset="0"/>
                <a:cs typeface="Corbel" panose="020B0503020204020204" pitchFamily="34" charset="0"/>
              </a:rPr>
              <a:t>Key research questions</a:t>
            </a: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9"/>
            <a:ext cx="11567160" cy="4750934"/>
          </a:xfrm>
        </p:spPr>
        <p:txBody>
          <a:bodyPr>
            <a:normAutofit fontScale="92500" lnSpcReduction="10000"/>
          </a:bodyPr>
          <a:lstStyle/>
          <a:p>
            <a:pPr marL="514350" indent="-514350">
              <a:buFont typeface="+mj-lt"/>
              <a:buAutoNum type="arabicPeriod"/>
            </a:pPr>
            <a:r>
              <a:rPr lang="en-GB" dirty="0"/>
              <a:t>What are the </a:t>
            </a:r>
            <a:r>
              <a:rPr lang="en-GB" b="1" dirty="0"/>
              <a:t>core constitutive elements of illiberalism </a:t>
            </a:r>
            <a:r>
              <a:rPr lang="en-GB" dirty="0"/>
              <a:t>today as a set of ideas, ideologies, attitudes and political regimes and what are the main theoretical varieties of illiberalism? </a:t>
            </a:r>
          </a:p>
          <a:p>
            <a:pPr marL="514350" indent="-514350">
              <a:buFont typeface="+mj-lt"/>
              <a:buAutoNum type="arabicPeriod"/>
            </a:pPr>
            <a:r>
              <a:rPr lang="en-GB" dirty="0"/>
              <a:t>Which elements of liberal democracy do illiberal citizens/parties oppose and which ones do they endorse? What are the </a:t>
            </a:r>
            <a:r>
              <a:rPr lang="en-GB" b="1" dirty="0"/>
              <a:t>different ideological combinations of political preferences</a:t>
            </a:r>
            <a:r>
              <a:rPr lang="en-GB" dirty="0"/>
              <a:t> (based on salient issues) and how are they related to the support and opposition to liberal democracy? Can we empirically distinguish different ideological flavours across opponents to liberal democracies, and if yes, what are they? </a:t>
            </a:r>
          </a:p>
          <a:p>
            <a:pPr marL="514350" indent="-514350">
              <a:buFont typeface="+mj-lt"/>
              <a:buAutoNum type="arabicPeriod"/>
            </a:pPr>
            <a:r>
              <a:rPr lang="en-GB" dirty="0"/>
              <a:t>Can one identify inter-/trans-national impact on illiberalism and its particular models? Which are the most effective roots of </a:t>
            </a:r>
            <a:r>
              <a:rPr lang="en-GB" b="1" dirty="0"/>
              <a:t>transnational diffusion</a:t>
            </a:r>
            <a:r>
              <a:rPr lang="en-GB" dirty="0"/>
              <a:t>: from general cultural spirit to direct inter-party formal links, e.g. in the EU parliament? </a:t>
            </a:r>
          </a:p>
          <a:p>
            <a:pPr marL="514350" indent="-514350">
              <a:buFont typeface="+mj-lt"/>
              <a:buAutoNum type="arabicPeriod"/>
            </a:pPr>
            <a:r>
              <a:rPr lang="en-GB" dirty="0"/>
              <a:t>How can liberal democratic actors </a:t>
            </a:r>
            <a:r>
              <a:rPr lang="en-GB" b="1" dirty="0"/>
              <a:t>respond to illiberal challenges</a:t>
            </a:r>
            <a:r>
              <a:rPr lang="en-GB" dirty="0"/>
              <a:t>? </a:t>
            </a:r>
          </a:p>
        </p:txBody>
      </p:sp>
    </p:spTree>
    <p:extLst>
      <p:ext uri="{BB962C8B-B14F-4D97-AF65-F5344CB8AC3E}">
        <p14:creationId xmlns:p14="http://schemas.microsoft.com/office/powerpoint/2010/main" val="664628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a:bodyPr>
          <a:lstStyle/>
          <a:p>
            <a:r>
              <a:rPr lang="en-US" sz="2800" b="1" dirty="0">
                <a:latin typeface="Corbel" panose="020B0503020204020204" pitchFamily="34" charset="0"/>
                <a:ea typeface="Corbel" panose="020B0503020204020204" pitchFamily="34" charset="0"/>
                <a:cs typeface="Corbel" panose="020B0503020204020204" pitchFamily="34" charset="0"/>
              </a:rPr>
              <a:t>Levels of analysis</a:t>
            </a: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9"/>
            <a:ext cx="11567160" cy="4750934"/>
          </a:xfrm>
        </p:spPr>
        <p:txBody>
          <a:bodyPr>
            <a:normAutofit/>
          </a:bodyPr>
          <a:lstStyle/>
          <a:p>
            <a:pPr marL="514350" indent="-514350">
              <a:buFont typeface="+mj-lt"/>
              <a:buAutoNum type="arabicPeriod"/>
            </a:pPr>
            <a:r>
              <a:rPr lang="pl-PL" dirty="0" err="1"/>
              <a:t>Ideas</a:t>
            </a:r>
            <a:r>
              <a:rPr lang="pl-PL" dirty="0"/>
              <a:t> and </a:t>
            </a:r>
            <a:r>
              <a:rPr lang="pl-PL" dirty="0" err="1"/>
              <a:t>ideology</a:t>
            </a:r>
            <a:r>
              <a:rPr lang="pl-PL" dirty="0"/>
              <a:t> </a:t>
            </a:r>
            <a:r>
              <a:rPr lang="pl-PL" dirty="0" err="1"/>
              <a:t>itself</a:t>
            </a:r>
            <a:r>
              <a:rPr lang="pl-PL" dirty="0"/>
              <a:t> </a:t>
            </a:r>
          </a:p>
          <a:p>
            <a:pPr marL="514350" indent="-514350">
              <a:buFont typeface="+mj-lt"/>
              <a:buAutoNum type="arabicPeriod"/>
            </a:pPr>
            <a:r>
              <a:rPr lang="pl-PL" dirty="0"/>
              <a:t>The </a:t>
            </a:r>
            <a:r>
              <a:rPr lang="pl-PL" dirty="0" err="1"/>
              <a:t>political</a:t>
            </a:r>
            <a:r>
              <a:rPr lang="pl-PL" dirty="0"/>
              <a:t> </a:t>
            </a:r>
            <a:r>
              <a:rPr lang="pl-PL" dirty="0" err="1"/>
              <a:t>operationalization</a:t>
            </a:r>
            <a:r>
              <a:rPr lang="pl-PL" dirty="0"/>
              <a:t> of </a:t>
            </a:r>
            <a:r>
              <a:rPr lang="pl-PL" dirty="0" err="1"/>
              <a:t>ideology</a:t>
            </a:r>
            <a:r>
              <a:rPr lang="pl-PL" dirty="0"/>
              <a:t> </a:t>
            </a:r>
          </a:p>
          <a:p>
            <a:pPr marL="514350" indent="-514350">
              <a:buFont typeface="+mj-lt"/>
              <a:buAutoNum type="arabicPeriod"/>
            </a:pPr>
            <a:r>
              <a:rPr lang="pl-PL" dirty="0"/>
              <a:t>The </a:t>
            </a:r>
            <a:r>
              <a:rPr lang="pl-PL" dirty="0" err="1"/>
              <a:t>social-political</a:t>
            </a:r>
            <a:r>
              <a:rPr lang="pl-PL" dirty="0"/>
              <a:t> </a:t>
            </a:r>
            <a:r>
              <a:rPr lang="pl-PL" dirty="0" err="1"/>
              <a:t>response</a:t>
            </a:r>
            <a:r>
              <a:rPr lang="pl-PL" dirty="0"/>
              <a:t> to </a:t>
            </a:r>
            <a:r>
              <a:rPr lang="pl-PL" dirty="0" err="1"/>
              <a:t>ideologies</a:t>
            </a:r>
            <a:r>
              <a:rPr lang="pl-PL" dirty="0"/>
              <a:t> </a:t>
            </a:r>
          </a:p>
          <a:p>
            <a:pPr marL="514350" indent="-514350">
              <a:buFont typeface="+mj-lt"/>
              <a:buAutoNum type="arabicPeriod"/>
            </a:pPr>
            <a:r>
              <a:rPr lang="pl-PL" dirty="0"/>
              <a:t>The </a:t>
            </a:r>
            <a:r>
              <a:rPr lang="pl-PL" dirty="0" err="1"/>
              <a:t>nature</a:t>
            </a:r>
            <a:r>
              <a:rPr lang="pl-PL" dirty="0"/>
              <a:t> of party-</a:t>
            </a:r>
            <a:r>
              <a:rPr lang="pl-PL" dirty="0" err="1"/>
              <a:t>voter</a:t>
            </a:r>
            <a:r>
              <a:rPr lang="pl-PL" dirty="0"/>
              <a:t> </a:t>
            </a:r>
            <a:r>
              <a:rPr lang="pl-PL" dirty="0" err="1"/>
              <a:t>linkages</a:t>
            </a:r>
            <a:r>
              <a:rPr lang="pl-PL" dirty="0"/>
              <a:t> </a:t>
            </a:r>
          </a:p>
          <a:p>
            <a:pPr marL="514350" indent="-514350">
              <a:buFont typeface="+mj-lt"/>
              <a:buAutoNum type="arabicPeriod"/>
            </a:pPr>
            <a:endParaRPr lang="pl-PL" dirty="0"/>
          </a:p>
          <a:p>
            <a:pPr marL="0" indent="0">
              <a:buNone/>
            </a:pPr>
            <a:endParaRPr lang="pl-PL" dirty="0"/>
          </a:p>
        </p:txBody>
      </p:sp>
    </p:spTree>
    <p:extLst>
      <p:ext uri="{BB962C8B-B14F-4D97-AF65-F5344CB8AC3E}">
        <p14:creationId xmlns:p14="http://schemas.microsoft.com/office/powerpoint/2010/main" val="2037876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a:bodyPr>
          <a:lstStyle/>
          <a:p>
            <a:r>
              <a:rPr lang="en-US" sz="2800" b="1" dirty="0">
                <a:latin typeface="Corbel" panose="020B0503020204020204" pitchFamily="34" charset="0"/>
              </a:rPr>
              <a:t>Central issues</a:t>
            </a: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9"/>
            <a:ext cx="11567160" cy="4750934"/>
          </a:xfrm>
        </p:spPr>
        <p:txBody>
          <a:bodyPr>
            <a:normAutofit/>
          </a:bodyPr>
          <a:lstStyle/>
          <a:p>
            <a:pPr marL="514350" indent="-514350">
              <a:buFont typeface="+mj-lt"/>
              <a:buAutoNum type="arabicPeriod"/>
            </a:pPr>
            <a:r>
              <a:rPr lang="pl-PL" dirty="0" err="1"/>
              <a:t>democratic</a:t>
            </a:r>
            <a:r>
              <a:rPr lang="pl-PL" dirty="0"/>
              <a:t> </a:t>
            </a:r>
            <a:r>
              <a:rPr lang="pl-PL" dirty="0" err="1"/>
              <a:t>procedures</a:t>
            </a:r>
            <a:r>
              <a:rPr lang="pl-PL" dirty="0"/>
              <a:t> and </a:t>
            </a:r>
            <a:r>
              <a:rPr lang="pl-PL" dirty="0" err="1"/>
              <a:t>liberal</a:t>
            </a:r>
            <a:r>
              <a:rPr lang="pl-PL" dirty="0"/>
              <a:t> </a:t>
            </a:r>
            <a:r>
              <a:rPr lang="pl-PL" dirty="0" err="1"/>
              <a:t>democratic</a:t>
            </a:r>
            <a:r>
              <a:rPr lang="pl-PL" dirty="0"/>
              <a:t> </a:t>
            </a:r>
            <a:r>
              <a:rPr lang="pl-PL" dirty="0" err="1"/>
              <a:t>values</a:t>
            </a:r>
            <a:r>
              <a:rPr lang="pl-PL" dirty="0"/>
              <a:t> </a:t>
            </a:r>
          </a:p>
          <a:p>
            <a:pPr marL="514350" indent="-514350">
              <a:buFont typeface="+mj-lt"/>
              <a:buAutoNum type="arabicPeriod"/>
            </a:pPr>
            <a:r>
              <a:rPr lang="pl-PL" dirty="0" err="1"/>
              <a:t>ideological</a:t>
            </a:r>
            <a:r>
              <a:rPr lang="pl-PL" dirty="0"/>
              <a:t> </a:t>
            </a:r>
            <a:r>
              <a:rPr lang="pl-PL" dirty="0" err="1"/>
              <a:t>underpinnings</a:t>
            </a:r>
            <a:r>
              <a:rPr lang="pl-PL" dirty="0"/>
              <a:t> of </a:t>
            </a:r>
            <a:r>
              <a:rPr lang="pl-PL" dirty="0" err="1"/>
              <a:t>illiberalism</a:t>
            </a:r>
            <a:r>
              <a:rPr lang="pl-PL" dirty="0"/>
              <a:t> </a:t>
            </a:r>
          </a:p>
          <a:p>
            <a:pPr marL="514350" indent="-514350">
              <a:buFont typeface="+mj-lt"/>
              <a:buAutoNum type="arabicPeriod"/>
            </a:pPr>
            <a:r>
              <a:rPr lang="pl-PL" dirty="0" err="1"/>
              <a:t>illiberal</a:t>
            </a:r>
            <a:r>
              <a:rPr lang="pl-PL" dirty="0"/>
              <a:t> </a:t>
            </a:r>
            <a:r>
              <a:rPr lang="pl-PL" dirty="0" err="1"/>
              <a:t>citizens</a:t>
            </a:r>
            <a:r>
              <a:rPr lang="pl-PL" dirty="0"/>
              <a:t>' </a:t>
            </a:r>
            <a:r>
              <a:rPr lang="pl-PL" dirty="0" err="1"/>
              <a:t>psychological</a:t>
            </a:r>
            <a:r>
              <a:rPr lang="pl-PL" dirty="0"/>
              <a:t> </a:t>
            </a:r>
            <a:r>
              <a:rPr lang="pl-PL" dirty="0" err="1"/>
              <a:t>traits</a:t>
            </a:r>
            <a:r>
              <a:rPr lang="pl-PL" dirty="0"/>
              <a:t> and </a:t>
            </a:r>
            <a:r>
              <a:rPr lang="pl-PL" dirty="0" err="1"/>
              <a:t>attitudes</a:t>
            </a:r>
            <a:r>
              <a:rPr lang="pl-PL" dirty="0"/>
              <a:t> </a:t>
            </a:r>
          </a:p>
          <a:p>
            <a:pPr marL="514350" indent="-514350">
              <a:buFont typeface="+mj-lt"/>
              <a:buAutoNum type="arabicPeriod"/>
            </a:pPr>
            <a:r>
              <a:rPr lang="pl-PL" dirty="0" err="1"/>
              <a:t>illiberal</a:t>
            </a:r>
            <a:r>
              <a:rPr lang="pl-PL" dirty="0"/>
              <a:t> </a:t>
            </a:r>
            <a:r>
              <a:rPr lang="pl-PL" dirty="0" err="1"/>
              <a:t>practices</a:t>
            </a:r>
            <a:r>
              <a:rPr lang="pl-PL" dirty="0"/>
              <a:t> and </a:t>
            </a:r>
            <a:r>
              <a:rPr lang="pl-PL" dirty="0" err="1"/>
              <a:t>policies</a:t>
            </a:r>
            <a:r>
              <a:rPr lang="pl-PL" dirty="0"/>
              <a:t> </a:t>
            </a:r>
          </a:p>
          <a:p>
            <a:pPr marL="514350" indent="-514350">
              <a:buFont typeface="+mj-lt"/>
              <a:buAutoNum type="arabicPeriod"/>
            </a:pPr>
            <a:r>
              <a:rPr lang="pl-PL" dirty="0" err="1"/>
              <a:t>international</a:t>
            </a:r>
            <a:r>
              <a:rPr lang="pl-PL" dirty="0"/>
              <a:t> relations, </a:t>
            </a:r>
            <a:r>
              <a:rPr lang="pl-PL" dirty="0" err="1"/>
              <a:t>geopolitics</a:t>
            </a:r>
            <a:r>
              <a:rPr lang="pl-PL" dirty="0"/>
              <a:t>, and </a:t>
            </a:r>
            <a:r>
              <a:rPr lang="pl-PL" dirty="0" err="1"/>
              <a:t>supra-national</a:t>
            </a:r>
            <a:r>
              <a:rPr lang="pl-PL" dirty="0"/>
              <a:t> </a:t>
            </a:r>
            <a:r>
              <a:rPr lang="pl-PL" dirty="0" err="1"/>
              <a:t>institutions</a:t>
            </a:r>
            <a:r>
              <a:rPr lang="pl-PL" dirty="0"/>
              <a:t>  </a:t>
            </a:r>
          </a:p>
          <a:p>
            <a:pPr marL="514350" indent="-514350">
              <a:buFont typeface="+mj-lt"/>
              <a:buAutoNum type="arabicPeriod"/>
            </a:pPr>
            <a:r>
              <a:rPr lang="pl-PL" dirty="0" err="1"/>
              <a:t>democratic</a:t>
            </a:r>
            <a:r>
              <a:rPr lang="pl-PL" dirty="0"/>
              <a:t> </a:t>
            </a:r>
            <a:r>
              <a:rPr lang="pl-PL" dirty="0" err="1"/>
              <a:t>resilience</a:t>
            </a:r>
            <a:r>
              <a:rPr lang="pl-PL" dirty="0"/>
              <a:t> to </a:t>
            </a:r>
            <a:r>
              <a:rPr lang="pl-PL" dirty="0" err="1"/>
              <a:t>autocratization</a:t>
            </a:r>
            <a:r>
              <a:rPr lang="pl-PL" dirty="0"/>
              <a:t> / </a:t>
            </a:r>
            <a:r>
              <a:rPr lang="pl-PL" dirty="0" err="1"/>
              <a:t>responses</a:t>
            </a:r>
            <a:r>
              <a:rPr lang="pl-PL" dirty="0"/>
              <a:t> to </a:t>
            </a:r>
            <a:r>
              <a:rPr lang="pl-PL" dirty="0" err="1"/>
              <a:t>illiberal</a:t>
            </a:r>
            <a:r>
              <a:rPr lang="pl-PL" dirty="0"/>
              <a:t> </a:t>
            </a:r>
            <a:r>
              <a:rPr lang="pl-PL" dirty="0" err="1"/>
              <a:t>challenges</a:t>
            </a:r>
            <a:r>
              <a:rPr lang="pl-PL" dirty="0"/>
              <a:t> </a:t>
            </a:r>
          </a:p>
          <a:p>
            <a:pPr marL="0" indent="0">
              <a:buNone/>
            </a:pPr>
            <a:endParaRPr lang="pl-PL" dirty="0"/>
          </a:p>
          <a:p>
            <a:pPr marL="0" indent="0">
              <a:buNone/>
            </a:pPr>
            <a:endParaRPr lang="pl-PL" dirty="0"/>
          </a:p>
        </p:txBody>
      </p:sp>
    </p:spTree>
    <p:extLst>
      <p:ext uri="{BB962C8B-B14F-4D97-AF65-F5344CB8AC3E}">
        <p14:creationId xmlns:p14="http://schemas.microsoft.com/office/powerpoint/2010/main" val="3346132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C172619-6000-4599-AD02-8BBED1BFF82D}"/>
              </a:ext>
            </a:extLst>
          </p:cNvPr>
          <p:cNvSpPr>
            <a:spLocks noGrp="1"/>
          </p:cNvSpPr>
          <p:nvPr>
            <p:ph type="ctrTitle"/>
          </p:nvPr>
        </p:nvSpPr>
        <p:spPr>
          <a:xfrm>
            <a:off x="1524000" y="1122362"/>
            <a:ext cx="9144000" cy="3737873"/>
          </a:xfrm>
        </p:spPr>
        <p:txBody>
          <a:bodyPr>
            <a:normAutofit fontScale="90000"/>
          </a:bodyPr>
          <a:lstStyle/>
          <a:p>
            <a:br>
              <a:rPr lang="pl-PL" dirty="0"/>
            </a:br>
            <a:br>
              <a:rPr lang="pl-PL" dirty="0"/>
            </a:br>
            <a:br>
              <a:rPr lang="pl-PL" dirty="0"/>
            </a:br>
            <a:r>
              <a:rPr lang="pl-PL" sz="4000" b="1" dirty="0"/>
              <a:t>WP4 </a:t>
            </a:r>
            <a:r>
              <a:rPr lang="en-US" sz="4000" b="1" i="0" dirty="0">
                <a:solidFill>
                  <a:srgbClr val="1C1C1C"/>
                </a:solidFill>
                <a:effectLst/>
              </a:rPr>
              <a:t>Survey-based data-collection and experiments on public attitudes </a:t>
            </a:r>
            <a:br>
              <a:rPr lang="en-US" sz="4000" b="0" i="0" dirty="0">
                <a:solidFill>
                  <a:srgbClr val="1C1C1C"/>
                </a:solidFill>
                <a:effectLst/>
              </a:rPr>
            </a:br>
            <a:r>
              <a:rPr lang="en-US" sz="4000" b="0" i="0" dirty="0">
                <a:solidFill>
                  <a:srgbClr val="1C1C1C"/>
                </a:solidFill>
                <a:effectLst/>
              </a:rPr>
              <a:t>​</a:t>
            </a:r>
            <a:br>
              <a:rPr lang="en-US" sz="4000" b="0" i="0" dirty="0">
                <a:solidFill>
                  <a:srgbClr val="1C1C1C"/>
                </a:solidFill>
                <a:effectLst/>
              </a:rPr>
            </a:br>
            <a:r>
              <a:rPr lang="en-US" sz="4000" b="0" i="0" dirty="0">
                <a:solidFill>
                  <a:srgbClr val="1C1C1C"/>
                </a:solidFill>
                <a:effectLst/>
              </a:rPr>
              <a:t> Lead SWPS</a:t>
            </a:r>
            <a:br>
              <a:rPr lang="en-US" sz="4000" b="0" i="0" dirty="0">
                <a:solidFill>
                  <a:srgbClr val="1C1C1C"/>
                </a:solidFill>
                <a:effectLst/>
              </a:rPr>
            </a:br>
            <a:br>
              <a:rPr lang="en-US" sz="4000" b="0" i="0" dirty="0">
                <a:solidFill>
                  <a:srgbClr val="1C1C1C"/>
                </a:solidFill>
                <a:effectLst/>
              </a:rPr>
            </a:br>
            <a:r>
              <a:rPr lang="en-US" sz="4000" b="0" i="0" dirty="0">
                <a:solidFill>
                  <a:srgbClr val="1C1C1C"/>
                </a:solidFill>
                <a:effectLst/>
              </a:rPr>
              <a:t>M7-25 (April 2023 – October 2024)</a:t>
            </a:r>
            <a:endParaRPr lang="pl-PL" dirty="0"/>
          </a:p>
        </p:txBody>
      </p:sp>
    </p:spTree>
    <p:extLst>
      <p:ext uri="{BB962C8B-B14F-4D97-AF65-F5344CB8AC3E}">
        <p14:creationId xmlns:p14="http://schemas.microsoft.com/office/powerpoint/2010/main" val="927052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C22B75-4F1A-491A-9543-B958A7CADBDF}"/>
              </a:ext>
            </a:extLst>
          </p:cNvPr>
          <p:cNvSpPr>
            <a:spLocks noGrp="1"/>
          </p:cNvSpPr>
          <p:nvPr>
            <p:ph type="title"/>
          </p:nvPr>
        </p:nvSpPr>
        <p:spPr>
          <a:xfrm>
            <a:off x="838200" y="365125"/>
            <a:ext cx="10515600" cy="677863"/>
          </a:xfrm>
        </p:spPr>
        <p:txBody>
          <a:bodyPr>
            <a:normAutofit fontScale="90000"/>
          </a:bodyPr>
          <a:lstStyle/>
          <a:p>
            <a:r>
              <a:rPr lang="pl-PL" dirty="0"/>
              <a:t>Five </a:t>
            </a:r>
            <a:r>
              <a:rPr lang="pl-PL" dirty="0" err="1"/>
              <a:t>deliverables</a:t>
            </a:r>
            <a:r>
              <a:rPr lang="pl-PL" dirty="0"/>
              <a:t> &amp; one </a:t>
            </a:r>
            <a:r>
              <a:rPr lang="pl-PL" dirty="0" err="1"/>
              <a:t>milestone</a:t>
            </a:r>
            <a:r>
              <a:rPr lang="pl-PL" dirty="0"/>
              <a:t> </a:t>
            </a:r>
          </a:p>
        </p:txBody>
      </p:sp>
      <p:sp>
        <p:nvSpPr>
          <p:cNvPr id="3" name="Symbol zastępczy zawartości 2">
            <a:extLst>
              <a:ext uri="{FF2B5EF4-FFF2-40B4-BE49-F238E27FC236}">
                <a16:creationId xmlns:a16="http://schemas.microsoft.com/office/drawing/2014/main" id="{D8358221-1950-4C72-BBE8-5A20865A87BA}"/>
              </a:ext>
            </a:extLst>
          </p:cNvPr>
          <p:cNvSpPr>
            <a:spLocks noGrp="1"/>
          </p:cNvSpPr>
          <p:nvPr>
            <p:ph idx="1"/>
          </p:nvPr>
        </p:nvSpPr>
        <p:spPr>
          <a:xfrm>
            <a:off x="838200" y="1357313"/>
            <a:ext cx="10808368" cy="5135562"/>
          </a:xfrm>
        </p:spPr>
        <p:txBody>
          <a:bodyPr>
            <a:normAutofit fontScale="92500"/>
          </a:bodyPr>
          <a:lstStyle/>
          <a:p>
            <a:pPr marL="0" indent="0">
              <a:buNone/>
            </a:pPr>
            <a:r>
              <a:rPr lang="pl-PL" b="1" noProof="1">
                <a:latin typeface="Corbel" panose="020B0503020204020204" pitchFamily="34" charset="0"/>
              </a:rPr>
              <a:t>D4.1 </a:t>
            </a:r>
            <a:r>
              <a:rPr lang="en-US" b="1" dirty="0"/>
              <a:t>An analysis of the relationship between socio-demographic attributes and the propensity to support particular types of neo-authoritarianism </a:t>
            </a:r>
            <a:r>
              <a:rPr lang="pl-PL" b="1" noProof="1">
                <a:latin typeface="Corbel" panose="020B0503020204020204" pitchFamily="34" charset="0"/>
              </a:rPr>
              <a:t>M24</a:t>
            </a:r>
          </a:p>
          <a:p>
            <a:pPr marL="0" indent="0">
              <a:buNone/>
            </a:pPr>
            <a:r>
              <a:rPr lang="pl-PL" b="1" noProof="1">
                <a:latin typeface="Corbel" panose="020B0503020204020204" pitchFamily="34" charset="0"/>
                <a:sym typeface="Wingdings" panose="05000000000000000000" pitchFamily="2" charset="2"/>
              </a:rPr>
              <a:t>D4.2 </a:t>
            </a:r>
            <a:r>
              <a:rPr lang="en-US" b="1" dirty="0"/>
              <a:t>A data set that integrates information on the social characteristics of neo - authoritarianism (based on previous surveys – ESS, ISSP, EES, EVS) with the ideological configurations that emerged from WP3 </a:t>
            </a:r>
            <a:r>
              <a:rPr lang="pl-PL" b="1" noProof="1">
                <a:latin typeface="Corbel" panose="020B0503020204020204" pitchFamily="34" charset="0"/>
                <a:sym typeface="Wingdings" panose="05000000000000000000" pitchFamily="2" charset="2"/>
              </a:rPr>
              <a:t>M24</a:t>
            </a:r>
          </a:p>
          <a:p>
            <a:pPr marL="0" indent="0">
              <a:buNone/>
            </a:pPr>
            <a:r>
              <a:rPr lang="pl-PL" b="1" noProof="1">
                <a:latin typeface="Corbel" panose="020B0503020204020204" pitchFamily="34" charset="0"/>
                <a:sym typeface="Wingdings" panose="05000000000000000000" pitchFamily="2" charset="2"/>
              </a:rPr>
              <a:t>D4.3 A paper including a typology on the distribution of the types of illiberal orientations across the EU Member States M25</a:t>
            </a:r>
          </a:p>
          <a:p>
            <a:pPr marL="0" indent="0">
              <a:buNone/>
            </a:pPr>
            <a:r>
              <a:rPr lang="pl-PL" b="1" noProof="1">
                <a:latin typeface="Corbel" panose="020B0503020204020204" pitchFamily="34" charset="0"/>
                <a:sym typeface="Wingdings" panose="05000000000000000000" pitchFamily="2" charset="2"/>
              </a:rPr>
              <a:t>D4.4 </a:t>
            </a:r>
            <a:r>
              <a:rPr lang="en-US" b="1" dirty="0"/>
              <a:t>A data set on the reactions of citizens in experimental setting </a:t>
            </a:r>
            <a:r>
              <a:rPr lang="pl-PL" b="1" noProof="1">
                <a:latin typeface="Corbel" panose="020B0503020204020204" pitchFamily="34" charset="0"/>
                <a:sym typeface="Wingdings" panose="05000000000000000000" pitchFamily="2" charset="2"/>
              </a:rPr>
              <a:t>M25</a:t>
            </a:r>
          </a:p>
          <a:p>
            <a:pPr marL="0" indent="0">
              <a:buNone/>
            </a:pPr>
            <a:r>
              <a:rPr lang="pl-PL" b="1" noProof="1">
                <a:latin typeface="Corbel" panose="020B0503020204020204" pitchFamily="34" charset="0"/>
                <a:sym typeface="Wingdings" panose="05000000000000000000" pitchFamily="2" charset="2"/>
              </a:rPr>
              <a:t>D4.5 </a:t>
            </a:r>
            <a:r>
              <a:rPr lang="en-US" b="1" dirty="0"/>
              <a:t>A paper on the survey experiments, focusing on factors shaping attitudes towards liberal democracy </a:t>
            </a:r>
            <a:r>
              <a:rPr lang="pl-PL" b="1" noProof="1">
                <a:latin typeface="Corbel" panose="020B0503020204020204" pitchFamily="34" charset="0"/>
                <a:sym typeface="Wingdings" panose="05000000000000000000" pitchFamily="2" charset="2"/>
              </a:rPr>
              <a:t>M25</a:t>
            </a:r>
          </a:p>
          <a:p>
            <a:pPr marL="0" indent="0">
              <a:buNone/>
            </a:pPr>
            <a:endParaRPr lang="pl-PL" b="1" noProof="1">
              <a:latin typeface="Corbel" panose="020B0503020204020204" pitchFamily="34" charset="0"/>
              <a:sym typeface="Wingdings" panose="05000000000000000000" pitchFamily="2" charset="2"/>
            </a:endParaRPr>
          </a:p>
          <a:p>
            <a:pPr marL="0" indent="0">
              <a:buNone/>
            </a:pPr>
            <a:r>
              <a:rPr lang="pl-PL" b="1" noProof="1">
                <a:latin typeface="Corbel" panose="020B0503020204020204" pitchFamily="34" charset="0"/>
                <a:sym typeface="Wingdings" panose="05000000000000000000" pitchFamily="2" charset="2"/>
              </a:rPr>
              <a:t>Milestone – </a:t>
            </a:r>
            <a:r>
              <a:rPr lang="en-US" b="1" dirty="0" err="1"/>
              <a:t>Finalisation</a:t>
            </a:r>
            <a:r>
              <a:rPr lang="en-US" b="1" dirty="0"/>
              <a:t> of the survey-based data collection </a:t>
            </a:r>
            <a:r>
              <a:rPr lang="pl-PL" b="1" noProof="1">
                <a:latin typeface="Corbel" panose="020B0503020204020204" pitchFamily="34" charset="0"/>
                <a:sym typeface="Wingdings" panose="05000000000000000000" pitchFamily="2" charset="2"/>
              </a:rPr>
              <a:t>M25</a:t>
            </a:r>
            <a:endParaRPr lang="pl-PL" noProof="1">
              <a:latin typeface="Corbel" panose="020B0503020204020204" pitchFamily="34" charset="0"/>
              <a:sym typeface="Wingdings" panose="05000000000000000000" pitchFamily="2" charset="2"/>
            </a:endParaRPr>
          </a:p>
        </p:txBody>
      </p:sp>
    </p:spTree>
    <p:extLst>
      <p:ext uri="{BB962C8B-B14F-4D97-AF65-F5344CB8AC3E}">
        <p14:creationId xmlns:p14="http://schemas.microsoft.com/office/powerpoint/2010/main" val="604830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a:bodyPr>
          <a:lstStyle/>
          <a:p>
            <a:r>
              <a:rPr lang="en-US" sz="2800" b="1" dirty="0">
                <a:latin typeface="Corbel" panose="020B0503020204020204" pitchFamily="34" charset="0"/>
                <a:ea typeface="Corbel" panose="020B0503020204020204" pitchFamily="34" charset="0"/>
                <a:cs typeface="Corbel" panose="020B0503020204020204" pitchFamily="34" charset="0"/>
              </a:rPr>
              <a:t>WP4 Main activities in M7-15</a:t>
            </a: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9"/>
            <a:ext cx="11567160" cy="4750934"/>
          </a:xfrm>
        </p:spPr>
        <p:txBody>
          <a:bodyPr>
            <a:normAutofit/>
          </a:bodyPr>
          <a:lstStyle/>
          <a:p>
            <a:pPr marL="514350" indent="-514350">
              <a:buFont typeface="+mj-lt"/>
              <a:buAutoNum type="arabicPeriod"/>
            </a:pPr>
            <a:r>
              <a:rPr lang="pl-PL" dirty="0" err="1"/>
              <a:t>Compilation</a:t>
            </a:r>
            <a:r>
              <a:rPr lang="pl-PL" dirty="0"/>
              <a:t> of </a:t>
            </a:r>
            <a:r>
              <a:rPr lang="pl-PL" dirty="0" err="1"/>
              <a:t>existing</a:t>
            </a:r>
            <a:r>
              <a:rPr lang="pl-PL" dirty="0"/>
              <a:t> </a:t>
            </a:r>
            <a:r>
              <a:rPr lang="pl-PL" dirty="0" err="1"/>
              <a:t>studies</a:t>
            </a:r>
            <a:r>
              <a:rPr lang="pl-PL" dirty="0"/>
              <a:t>, </a:t>
            </a:r>
            <a:r>
              <a:rPr lang="pl-PL" dirty="0" err="1"/>
              <a:t>measures</a:t>
            </a:r>
            <a:r>
              <a:rPr lang="pl-PL" dirty="0"/>
              <a:t>, and </a:t>
            </a:r>
            <a:r>
              <a:rPr lang="pl-PL" dirty="0" err="1"/>
              <a:t>indicators</a:t>
            </a:r>
            <a:r>
              <a:rPr lang="pl-PL" dirty="0"/>
              <a:t> </a:t>
            </a:r>
            <a:r>
              <a:rPr lang="pl-PL" dirty="0" err="1"/>
              <a:t>relevant</a:t>
            </a:r>
            <a:r>
              <a:rPr lang="pl-PL" dirty="0"/>
              <a:t> to the AUTHLIB </a:t>
            </a:r>
            <a:r>
              <a:rPr lang="pl-PL" dirty="0" err="1"/>
              <a:t>survey</a:t>
            </a:r>
            <a:r>
              <a:rPr lang="pl-PL" dirty="0"/>
              <a:t> </a:t>
            </a:r>
          </a:p>
          <a:p>
            <a:pPr marL="514350" indent="-514350">
              <a:buFont typeface="+mj-lt"/>
              <a:buAutoNum type="arabicPeriod"/>
            </a:pPr>
            <a:r>
              <a:rPr lang="pl-PL" dirty="0"/>
              <a:t>Design of the </a:t>
            </a:r>
            <a:r>
              <a:rPr lang="pl-PL" dirty="0" err="1"/>
              <a:t>survey</a:t>
            </a:r>
            <a:r>
              <a:rPr lang="pl-PL" dirty="0"/>
              <a:t> </a:t>
            </a:r>
            <a:r>
              <a:rPr lang="pl-PL" dirty="0" err="1"/>
              <a:t>questionnaire</a:t>
            </a:r>
            <a:endParaRPr lang="pl-PL" dirty="0"/>
          </a:p>
          <a:p>
            <a:pPr marL="514350" indent="-514350">
              <a:buFont typeface="+mj-lt"/>
              <a:buAutoNum type="arabicPeriod"/>
            </a:pPr>
            <a:r>
              <a:rPr lang="pl-PL" dirty="0"/>
              <a:t>Design of the </a:t>
            </a:r>
            <a:r>
              <a:rPr lang="pl-PL" dirty="0" err="1"/>
              <a:t>survey-embedded</a:t>
            </a:r>
            <a:r>
              <a:rPr lang="pl-PL" dirty="0"/>
              <a:t> </a:t>
            </a:r>
            <a:r>
              <a:rPr lang="pl-PL" dirty="0" err="1"/>
              <a:t>conjoint</a:t>
            </a:r>
            <a:r>
              <a:rPr lang="pl-PL" dirty="0"/>
              <a:t> </a:t>
            </a:r>
            <a:r>
              <a:rPr lang="pl-PL" dirty="0" err="1"/>
              <a:t>experiment</a:t>
            </a:r>
            <a:r>
              <a:rPr lang="pl-PL" dirty="0"/>
              <a:t> </a:t>
            </a:r>
          </a:p>
          <a:p>
            <a:pPr marL="514350" indent="-514350">
              <a:buFont typeface="+mj-lt"/>
              <a:buAutoNum type="arabicPeriod"/>
            </a:pPr>
            <a:r>
              <a:rPr lang="pl-PL" dirty="0" err="1"/>
              <a:t>Preparation</a:t>
            </a:r>
            <a:r>
              <a:rPr lang="pl-PL" dirty="0"/>
              <a:t> of the </a:t>
            </a:r>
            <a:r>
              <a:rPr lang="pl-PL" dirty="0" err="1"/>
              <a:t>administration</a:t>
            </a:r>
            <a:r>
              <a:rPr lang="pl-PL" dirty="0"/>
              <a:t> of the tender </a:t>
            </a:r>
            <a:r>
              <a:rPr lang="pl-PL" dirty="0" err="1"/>
              <a:t>process</a:t>
            </a:r>
            <a:r>
              <a:rPr lang="pl-PL" dirty="0"/>
              <a:t> </a:t>
            </a:r>
          </a:p>
        </p:txBody>
      </p:sp>
    </p:spTree>
    <p:extLst>
      <p:ext uri="{BB962C8B-B14F-4D97-AF65-F5344CB8AC3E}">
        <p14:creationId xmlns:p14="http://schemas.microsoft.com/office/powerpoint/2010/main" val="964057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C22B75-4F1A-491A-9543-B958A7CADBDF}"/>
              </a:ext>
            </a:extLst>
          </p:cNvPr>
          <p:cNvSpPr>
            <a:spLocks noGrp="1"/>
          </p:cNvSpPr>
          <p:nvPr>
            <p:ph type="title"/>
          </p:nvPr>
        </p:nvSpPr>
        <p:spPr>
          <a:xfrm>
            <a:off x="838200" y="365125"/>
            <a:ext cx="10515600" cy="677863"/>
          </a:xfrm>
        </p:spPr>
        <p:txBody>
          <a:bodyPr>
            <a:normAutofit fontScale="90000"/>
          </a:bodyPr>
          <a:lstStyle/>
          <a:p>
            <a:r>
              <a:rPr lang="pl-PL" dirty="0" err="1"/>
              <a:t>Key</a:t>
            </a:r>
            <a:r>
              <a:rPr lang="pl-PL" dirty="0"/>
              <a:t> </a:t>
            </a:r>
            <a:r>
              <a:rPr lang="pl-PL" dirty="0" err="1"/>
              <a:t>meetings</a:t>
            </a:r>
            <a:endParaRPr lang="pl-PL" dirty="0"/>
          </a:p>
        </p:txBody>
      </p:sp>
      <p:sp>
        <p:nvSpPr>
          <p:cNvPr id="3" name="Symbol zastępczy zawartości 2">
            <a:extLst>
              <a:ext uri="{FF2B5EF4-FFF2-40B4-BE49-F238E27FC236}">
                <a16:creationId xmlns:a16="http://schemas.microsoft.com/office/drawing/2014/main" id="{D8358221-1950-4C72-BBE8-5A20865A87BA}"/>
              </a:ext>
            </a:extLst>
          </p:cNvPr>
          <p:cNvSpPr>
            <a:spLocks noGrp="1"/>
          </p:cNvSpPr>
          <p:nvPr>
            <p:ph idx="1"/>
          </p:nvPr>
        </p:nvSpPr>
        <p:spPr>
          <a:xfrm>
            <a:off x="838200" y="1357313"/>
            <a:ext cx="6401773" cy="4819650"/>
          </a:xfrm>
        </p:spPr>
        <p:txBody>
          <a:bodyPr>
            <a:normAutofit fontScale="92500" lnSpcReduction="20000"/>
          </a:bodyPr>
          <a:lstStyle/>
          <a:p>
            <a:pPr marL="0" indent="0">
              <a:buNone/>
            </a:pPr>
            <a:r>
              <a:rPr lang="pl-PL" b="1" noProof="1">
                <a:latin typeface="Corbel" panose="020B0503020204020204" pitchFamily="34" charset="0"/>
                <a:sym typeface="Wingdings" panose="05000000000000000000" pitchFamily="2" charset="2"/>
              </a:rPr>
              <a:t>Hybrid internal workshop held on March 29, 2023 on-site at the University of Vienna and online</a:t>
            </a:r>
          </a:p>
          <a:p>
            <a:pPr marL="0" indent="0">
              <a:buNone/>
            </a:pPr>
            <a:r>
              <a:rPr lang="pl-PL" noProof="1">
                <a:latin typeface="Corbel" panose="020B0503020204020204" pitchFamily="34" charset="0"/>
                <a:sym typeface="Wingdings" panose="05000000000000000000" pitchFamily="2" charset="2"/>
              </a:rPr>
              <a:t>The initial collection of relevant items was showcased at the workshop. Consensus was reached on which elements from previous surveys should be included to ensure comparability and which new items should be developed.</a:t>
            </a:r>
          </a:p>
          <a:p>
            <a:pPr marL="0" indent="0">
              <a:buNone/>
            </a:pPr>
            <a:endParaRPr lang="pl-PL" noProof="1">
              <a:latin typeface="Corbel" panose="020B0503020204020204" pitchFamily="34" charset="0"/>
              <a:sym typeface="Wingdings" panose="05000000000000000000" pitchFamily="2" charset="2"/>
            </a:endParaRPr>
          </a:p>
          <a:p>
            <a:pPr marL="0" indent="0">
              <a:buNone/>
            </a:pPr>
            <a:r>
              <a:rPr lang="pl-PL" b="1" noProof="1">
                <a:latin typeface="Corbel" panose="020B0503020204020204" pitchFamily="34" charset="0"/>
                <a:sym typeface="Wingdings" panose="05000000000000000000" pitchFamily="2" charset="2"/>
              </a:rPr>
              <a:t>Meeting at the ECPR General Conference (September 4-8, 2023) </a:t>
            </a:r>
          </a:p>
          <a:p>
            <a:pPr marL="0" indent="0">
              <a:buNone/>
            </a:pPr>
            <a:r>
              <a:rPr lang="pl-PL" noProof="1">
                <a:latin typeface="Corbel" panose="020B0503020204020204" pitchFamily="34" charset="0"/>
                <a:sym typeface="Wingdings" panose="05000000000000000000" pitchFamily="2" charset="2"/>
              </a:rPr>
              <a:t>Preliminary draft of the questionnaire and options for polling companies to administer the survey were discussed</a:t>
            </a:r>
          </a:p>
        </p:txBody>
      </p:sp>
      <p:pic>
        <p:nvPicPr>
          <p:cNvPr id="4" name="Picture 3">
            <a:extLst>
              <a:ext uri="{FF2B5EF4-FFF2-40B4-BE49-F238E27FC236}">
                <a16:creationId xmlns:a16="http://schemas.microsoft.com/office/drawing/2014/main" id="{8D9595D5-16E4-DD82-2B7D-2C7356851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1791" y="866474"/>
            <a:ext cx="4233530" cy="2841169"/>
          </a:xfrm>
          <a:prstGeom prst="rect">
            <a:avLst/>
          </a:prstGeom>
        </p:spPr>
      </p:pic>
      <p:pic>
        <p:nvPicPr>
          <p:cNvPr id="3074" name="Picture 2" descr="AUTHLIB Team at ECPR">
            <a:extLst>
              <a:ext uri="{FF2B5EF4-FFF2-40B4-BE49-F238E27FC236}">
                <a16:creationId xmlns:a16="http://schemas.microsoft.com/office/drawing/2014/main" id="{7E3ABDD6-2ED0-50C7-5758-779CDAFD5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791" y="3767138"/>
            <a:ext cx="4233530" cy="2841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285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fontScale="90000"/>
          </a:bodyPr>
          <a:lstStyle/>
          <a:p>
            <a:r>
              <a:rPr lang="en-US" sz="2800" b="1" dirty="0">
                <a:latin typeface="Corbel" panose="020B0503020204020204" pitchFamily="34" charset="0"/>
                <a:ea typeface="Corbel" panose="020B0503020204020204" pitchFamily="34" charset="0"/>
                <a:cs typeface="Corbel" panose="020B0503020204020204" pitchFamily="34" charset="0"/>
              </a:rPr>
              <a:t>Compilation of existing studies, measures, and indicators</a:t>
            </a:r>
            <a:br>
              <a:rPr lang="en-US" sz="2800" b="1" dirty="0">
                <a:latin typeface="Corbel" panose="020B0503020204020204" pitchFamily="34" charset="0"/>
                <a:ea typeface="Corbel" panose="020B0503020204020204" pitchFamily="34" charset="0"/>
                <a:cs typeface="Corbel" panose="020B0503020204020204" pitchFamily="34" charset="0"/>
              </a:rPr>
            </a:b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9"/>
            <a:ext cx="11567160" cy="4750934"/>
          </a:xfrm>
        </p:spPr>
        <p:txBody>
          <a:bodyPr>
            <a:normAutofit/>
          </a:bodyPr>
          <a:lstStyle/>
          <a:p>
            <a:r>
              <a:rPr lang="en-GB" dirty="0"/>
              <a:t>Relevant measures and indicators from the European Social Survey (</a:t>
            </a:r>
            <a:r>
              <a:rPr lang="en-GB" b="1" dirty="0"/>
              <a:t>ESS</a:t>
            </a:r>
            <a:r>
              <a:rPr lang="en-GB" dirty="0"/>
              <a:t>), World Values Survey (</a:t>
            </a:r>
            <a:r>
              <a:rPr lang="en-GB" b="1" dirty="0"/>
              <a:t>WVS</a:t>
            </a:r>
            <a:r>
              <a:rPr lang="en-GB" dirty="0"/>
              <a:t>) and European Values Survey (</a:t>
            </a:r>
            <a:r>
              <a:rPr lang="en-GB" b="1" dirty="0"/>
              <a:t>EVS</a:t>
            </a:r>
            <a:r>
              <a:rPr lang="en-GB" dirty="0"/>
              <a:t>), International Social Survey Programme (</a:t>
            </a:r>
            <a:r>
              <a:rPr lang="en-GB" b="1" dirty="0"/>
              <a:t>ISSP</a:t>
            </a:r>
            <a:r>
              <a:rPr lang="en-GB" dirty="0"/>
              <a:t>), Comparative Study of Electoral Systems (</a:t>
            </a:r>
            <a:r>
              <a:rPr lang="en-GB" b="1" dirty="0"/>
              <a:t>CSES</a:t>
            </a:r>
            <a:r>
              <a:rPr lang="en-GB" dirty="0"/>
              <a:t>), </a:t>
            </a:r>
            <a:r>
              <a:rPr lang="en-GB" b="1" dirty="0"/>
              <a:t>Americas Barometer</a:t>
            </a:r>
            <a:r>
              <a:rPr lang="en-GB" dirty="0"/>
              <a:t>,</a:t>
            </a:r>
            <a:r>
              <a:rPr lang="en-GB" b="1" dirty="0"/>
              <a:t> </a:t>
            </a:r>
            <a:r>
              <a:rPr lang="en-GB" dirty="0"/>
              <a:t>and other sources were selected after assessing their suitability for AUTHLIB Survey goals and utilization in the extant literature.</a:t>
            </a:r>
          </a:p>
          <a:p>
            <a:r>
              <a:rPr lang="en-GB" dirty="0"/>
              <a:t>Several batteries and indicators from the ESS, WVS and EVS were analysed using </a:t>
            </a:r>
            <a:r>
              <a:rPr lang="en-GB" b="1" dirty="0"/>
              <a:t>statistical methods </a:t>
            </a:r>
            <a:r>
              <a:rPr lang="en-GB" dirty="0"/>
              <a:t>such as Principal Factor Analysis and pairwise correlations to assess their </a:t>
            </a:r>
            <a:r>
              <a:rPr lang="en-GB" b="1" dirty="0"/>
              <a:t>consistency and relevance for the project</a:t>
            </a:r>
            <a:r>
              <a:rPr lang="en-GB" dirty="0"/>
              <a:t>.</a:t>
            </a:r>
          </a:p>
          <a:p>
            <a:pPr marL="0" indent="0">
              <a:buNone/>
            </a:pPr>
            <a:endParaRPr lang="en-GB" dirty="0"/>
          </a:p>
        </p:txBody>
      </p:sp>
    </p:spTree>
    <p:extLst>
      <p:ext uri="{BB962C8B-B14F-4D97-AF65-F5344CB8AC3E}">
        <p14:creationId xmlns:p14="http://schemas.microsoft.com/office/powerpoint/2010/main" val="3040390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fontScale="90000"/>
          </a:bodyPr>
          <a:lstStyle/>
          <a:p>
            <a:br>
              <a:rPr lang="en-US" sz="2800" b="1" dirty="0">
                <a:latin typeface="Corbel" panose="020B0503020204020204" pitchFamily="34" charset="0"/>
                <a:ea typeface="Corbel" panose="020B0503020204020204" pitchFamily="34" charset="0"/>
                <a:cs typeface="Corbel" panose="020B0503020204020204" pitchFamily="34" charset="0"/>
              </a:rPr>
            </a:br>
            <a:r>
              <a:rPr lang="en-US" sz="2800" b="1" dirty="0">
                <a:latin typeface="Corbel" panose="020B0503020204020204" pitchFamily="34" charset="0"/>
                <a:ea typeface="Corbel" panose="020B0503020204020204" pitchFamily="34" charset="0"/>
                <a:cs typeface="Corbel" panose="020B0503020204020204" pitchFamily="34" charset="0"/>
              </a:rPr>
              <a:t>Design of the survey questionnaire</a:t>
            </a:r>
            <a:br>
              <a:rPr lang="en-US" sz="2800" b="1" dirty="0">
                <a:latin typeface="Corbel" panose="020B0503020204020204" pitchFamily="34" charset="0"/>
                <a:ea typeface="Corbel" panose="020B0503020204020204" pitchFamily="34" charset="0"/>
                <a:cs typeface="Corbel" panose="020B0503020204020204" pitchFamily="34" charset="0"/>
              </a:rPr>
            </a:b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8"/>
            <a:ext cx="11567160" cy="4808517"/>
          </a:xfrm>
        </p:spPr>
        <p:txBody>
          <a:bodyPr>
            <a:normAutofit fontScale="92500" lnSpcReduction="10000"/>
          </a:bodyPr>
          <a:lstStyle/>
          <a:p>
            <a:r>
              <a:rPr lang="en-GB" b="1" dirty="0"/>
              <a:t>Several iterations </a:t>
            </a:r>
            <a:r>
              <a:rPr lang="en-GB" dirty="0"/>
              <a:t>of the questionnaire were prepared, consulted with Consortium partners and amended according to the received comments. The main task was to </a:t>
            </a:r>
            <a:r>
              <a:rPr lang="en-GB" b="1" dirty="0"/>
              <a:t>choose from existing measures </a:t>
            </a:r>
            <a:r>
              <a:rPr lang="en-GB" dirty="0"/>
              <a:t>the most suitable ones and </a:t>
            </a:r>
            <a:r>
              <a:rPr lang="en-GB" b="1" dirty="0"/>
              <a:t>come up with new ones </a:t>
            </a:r>
            <a:r>
              <a:rPr lang="en-GB" dirty="0"/>
              <a:t>if there was a lack of reliable measures.</a:t>
            </a:r>
          </a:p>
          <a:p>
            <a:r>
              <a:rPr lang="en-GB" dirty="0"/>
              <a:t>Due to the </a:t>
            </a:r>
            <a:r>
              <a:rPr lang="en-GB" b="1" dirty="0"/>
              <a:t>time constraints in administering the online survey </a:t>
            </a:r>
            <a:r>
              <a:rPr lang="en-GB" dirty="0"/>
              <a:t>(max. 25 minutes, including the experimental module), Consortium partners negotiated which items are to be included in the final version. Examples of past use, the reliability of indicators, the criticality of their inclusion and direct relationship to illiberalism were some of the most important criteria for decision-making.</a:t>
            </a:r>
          </a:p>
          <a:p>
            <a:r>
              <a:rPr lang="en-GB" dirty="0"/>
              <a:t>The questionnaire is </a:t>
            </a:r>
            <a:r>
              <a:rPr lang="en-GB" b="1" dirty="0"/>
              <a:t>expected to be finalised by the end of March 2024</a:t>
            </a:r>
            <a:r>
              <a:rPr lang="en-GB" dirty="0"/>
              <a:t>. It consists of </a:t>
            </a:r>
            <a:r>
              <a:rPr lang="en-GB" b="1" dirty="0"/>
              <a:t>41 questions </a:t>
            </a:r>
            <a:r>
              <a:rPr lang="en-GB" dirty="0"/>
              <a:t>(some of them with several items in batteries) ranging from such political attitudinal and behavioural aspects as normative evaluations of democracy, ideological underpinnings of illiberalism, authoritarian and populist attitudes, vote choice to socio-demographic items.</a:t>
            </a:r>
          </a:p>
        </p:txBody>
      </p:sp>
    </p:spTree>
    <p:extLst>
      <p:ext uri="{BB962C8B-B14F-4D97-AF65-F5344CB8AC3E}">
        <p14:creationId xmlns:p14="http://schemas.microsoft.com/office/powerpoint/2010/main" val="1445488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fontScale="90000"/>
          </a:bodyPr>
          <a:lstStyle/>
          <a:p>
            <a:br>
              <a:rPr lang="en-US" sz="2800" b="1" dirty="0">
                <a:latin typeface="Corbel" panose="020B0503020204020204" pitchFamily="34" charset="0"/>
                <a:ea typeface="Corbel" panose="020B0503020204020204" pitchFamily="34" charset="0"/>
                <a:cs typeface="Corbel" panose="020B0503020204020204" pitchFamily="34" charset="0"/>
              </a:rPr>
            </a:br>
            <a:r>
              <a:rPr lang="en-US" sz="2800" b="1" dirty="0">
                <a:latin typeface="Corbel" panose="020B0503020204020204" pitchFamily="34" charset="0"/>
                <a:ea typeface="Corbel" panose="020B0503020204020204" pitchFamily="34" charset="0"/>
                <a:cs typeface="Corbel" panose="020B0503020204020204" pitchFamily="34" charset="0"/>
              </a:rPr>
              <a:t>Design of the survey-embedded conjoint experiment </a:t>
            </a:r>
            <a:br>
              <a:rPr lang="en-US" sz="2800" b="1" dirty="0">
                <a:latin typeface="Corbel" panose="020B0503020204020204" pitchFamily="34" charset="0"/>
                <a:ea typeface="Corbel" panose="020B0503020204020204" pitchFamily="34" charset="0"/>
                <a:cs typeface="Corbel" panose="020B0503020204020204" pitchFamily="34" charset="0"/>
              </a:rPr>
            </a:b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8"/>
            <a:ext cx="11567160" cy="5431971"/>
          </a:xfrm>
        </p:spPr>
        <p:txBody>
          <a:bodyPr>
            <a:normAutofit fontScale="92500"/>
          </a:bodyPr>
          <a:lstStyle/>
          <a:p>
            <a:r>
              <a:rPr lang="en-GB" dirty="0"/>
              <a:t>Discussions have covered aspects like statistical power, the optimal number of iterations per participant, and the number and levels of attributes. </a:t>
            </a:r>
          </a:p>
          <a:p>
            <a:r>
              <a:rPr lang="en-GB" dirty="0"/>
              <a:t>The concept of </a:t>
            </a:r>
            <a:r>
              <a:rPr lang="en-GB" b="1" dirty="0"/>
              <a:t>varying levels of populism, illiberalism, and authoritarianism </a:t>
            </a:r>
            <a:r>
              <a:rPr lang="en-GB" dirty="0"/>
              <a:t>in a party’s policy implementation has been selected as the key attribute, together with its </a:t>
            </a:r>
            <a:r>
              <a:rPr lang="en-GB" b="1" dirty="0"/>
              <a:t>positions on cultural and economic dimensions of political competition</a:t>
            </a:r>
          </a:p>
          <a:p>
            <a:r>
              <a:rPr lang="en-GB" dirty="0"/>
              <a:t>A decision to include </a:t>
            </a:r>
            <a:r>
              <a:rPr lang="en-GB" b="1" dirty="0"/>
              <a:t>three iterations of three separate forced choice </a:t>
            </a:r>
            <a:r>
              <a:rPr lang="en-GB" dirty="0"/>
              <a:t>selections was made to cover the following three dimensions of populist, illiberal and authoritarian challenges to liberal democracy separately: </a:t>
            </a:r>
            <a:r>
              <a:rPr lang="en-GB" b="1" dirty="0"/>
              <a:t>democratic principle of rule of law, free and fair elections, and civil liberties</a:t>
            </a:r>
            <a:r>
              <a:rPr lang="en-GB" dirty="0"/>
              <a:t>. </a:t>
            </a:r>
          </a:p>
          <a:p>
            <a:r>
              <a:rPr lang="en-GB" dirty="0"/>
              <a:t>We are finalising the design by refining the specific wording and testing for plausibility of all hypothetical party profiles.</a:t>
            </a:r>
          </a:p>
          <a:p>
            <a:r>
              <a:rPr lang="en-GB" dirty="0"/>
              <a:t>The </a:t>
            </a:r>
            <a:r>
              <a:rPr lang="en-GB" b="1" dirty="0"/>
              <a:t>total number of conjoint forced choices is nine </a:t>
            </a:r>
            <a:r>
              <a:rPr lang="en-GB" dirty="0"/>
              <a:t>and the estimated time </a:t>
            </a:r>
            <a:r>
              <a:rPr lang="en-GB" b="1" dirty="0"/>
              <a:t>7 minutes</a:t>
            </a:r>
          </a:p>
        </p:txBody>
      </p:sp>
    </p:spTree>
    <p:extLst>
      <p:ext uri="{BB962C8B-B14F-4D97-AF65-F5344CB8AC3E}">
        <p14:creationId xmlns:p14="http://schemas.microsoft.com/office/powerpoint/2010/main" val="345106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3450850-58C1-7FA2-6AD3-AE2156C44740}"/>
              </a:ext>
            </a:extLst>
          </p:cNvPr>
          <p:cNvSpPr>
            <a:spLocks noGrp="1"/>
          </p:cNvSpPr>
          <p:nvPr>
            <p:ph type="title"/>
          </p:nvPr>
        </p:nvSpPr>
        <p:spPr/>
        <p:txBody>
          <a:bodyPr/>
          <a:lstStyle/>
          <a:p>
            <a:r>
              <a:rPr lang="pl-PL" dirty="0" err="1"/>
              <a:t>Preparation</a:t>
            </a:r>
            <a:r>
              <a:rPr lang="pl-PL" dirty="0"/>
              <a:t> of the </a:t>
            </a:r>
            <a:r>
              <a:rPr lang="pl-PL" dirty="0" err="1"/>
              <a:t>administration</a:t>
            </a:r>
            <a:r>
              <a:rPr lang="pl-PL" dirty="0"/>
              <a:t> of the tender </a:t>
            </a:r>
            <a:r>
              <a:rPr lang="pl-PL" dirty="0" err="1"/>
              <a:t>process</a:t>
            </a:r>
            <a:r>
              <a:rPr lang="pl-PL" dirty="0"/>
              <a:t> </a:t>
            </a:r>
          </a:p>
        </p:txBody>
      </p:sp>
      <p:sp>
        <p:nvSpPr>
          <p:cNvPr id="3" name="Symbol zastępczy zawartości 2">
            <a:extLst>
              <a:ext uri="{FF2B5EF4-FFF2-40B4-BE49-F238E27FC236}">
                <a16:creationId xmlns:a16="http://schemas.microsoft.com/office/drawing/2014/main" id="{285AF9CD-E750-CBFC-86FF-3E03EDA0A070}"/>
              </a:ext>
            </a:extLst>
          </p:cNvPr>
          <p:cNvSpPr>
            <a:spLocks noGrp="1"/>
          </p:cNvSpPr>
          <p:nvPr>
            <p:ph idx="1"/>
          </p:nvPr>
        </p:nvSpPr>
        <p:spPr/>
        <p:txBody>
          <a:bodyPr>
            <a:normAutofit/>
          </a:bodyPr>
          <a:lstStyle/>
          <a:p>
            <a:r>
              <a:rPr lang="pl-PL" sz="2000" dirty="0" err="1">
                <a:latin typeface="Calibri Light" panose="020F0302020204030204" pitchFamily="34" charset="0"/>
                <a:cs typeface="Calibri Light" panose="020F0302020204030204" pitchFamily="34" charset="0"/>
              </a:rPr>
              <a:t>Announced</a:t>
            </a:r>
            <a:r>
              <a:rPr lang="pl-PL" sz="2000" dirty="0">
                <a:latin typeface="Calibri Light" panose="020F0302020204030204" pitchFamily="34" charset="0"/>
                <a:cs typeface="Calibri Light" panose="020F0302020204030204" pitchFamily="34" charset="0"/>
              </a:rPr>
              <a:t> </a:t>
            </a:r>
            <a:r>
              <a:rPr lang="pl-PL" sz="2000" dirty="0">
                <a:highlight>
                  <a:srgbClr val="FFFF00"/>
                </a:highlight>
                <a:latin typeface="Calibri Light" panose="020F0302020204030204" pitchFamily="34" charset="0"/>
                <a:cs typeface="Calibri Light" panose="020F0302020204030204" pitchFamily="34" charset="0"/>
              </a:rPr>
              <a:t>xx-xx-</a:t>
            </a:r>
            <a:r>
              <a:rPr lang="pl-PL" sz="2000" dirty="0" err="1">
                <a:highlight>
                  <a:srgbClr val="FFFF00"/>
                </a:highlight>
                <a:latin typeface="Calibri Light" panose="020F0302020204030204" pitchFamily="34" charset="0"/>
                <a:cs typeface="Calibri Light" panose="020F0302020204030204" pitchFamily="34" charset="0"/>
              </a:rPr>
              <a:t>xxxx</a:t>
            </a:r>
            <a:r>
              <a:rPr lang="pl-PL" sz="2000" dirty="0">
                <a:latin typeface="Calibri Light" panose="020F0302020204030204" pitchFamily="34" charset="0"/>
                <a:cs typeface="Calibri Light" panose="020F0302020204030204" pitchFamily="34" charset="0"/>
              </a:rPr>
              <a:t> with 21 </a:t>
            </a:r>
            <a:r>
              <a:rPr lang="pl-PL" sz="2000" dirty="0" err="1">
                <a:latin typeface="Calibri Light" panose="020F0302020204030204" pitchFamily="34" charset="0"/>
                <a:cs typeface="Calibri Light" panose="020F0302020204030204" pitchFamily="34" charset="0"/>
              </a:rPr>
              <a:t>days</a:t>
            </a:r>
            <a:r>
              <a:rPr lang="pl-PL" sz="2000" dirty="0">
                <a:latin typeface="Calibri Light" panose="020F0302020204030204" pitchFamily="34" charset="0"/>
                <a:cs typeface="Calibri Light" panose="020F0302020204030204" pitchFamily="34" charset="0"/>
              </a:rPr>
              <a:t> of period for </a:t>
            </a:r>
            <a:r>
              <a:rPr lang="pl-PL" sz="2000" dirty="0" err="1">
                <a:latin typeface="Calibri Light" panose="020F0302020204030204" pitchFamily="34" charset="0"/>
                <a:cs typeface="Calibri Light" panose="020F0302020204030204" pitchFamily="34" charset="0"/>
              </a:rPr>
              <a:t>submitting</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bids</a:t>
            </a:r>
            <a:endParaRPr lang="pl-PL" sz="2000" dirty="0">
              <a:latin typeface="Calibri Light" panose="020F0302020204030204" pitchFamily="34" charset="0"/>
              <a:cs typeface="Calibri Light" panose="020F0302020204030204" pitchFamily="34" charset="0"/>
            </a:endParaRPr>
          </a:p>
          <a:p>
            <a:r>
              <a:rPr lang="pl-PL" sz="2000" dirty="0" err="1">
                <a:latin typeface="Calibri Light" panose="020F0302020204030204" pitchFamily="34" charset="0"/>
                <a:cs typeface="Calibri Light" panose="020F0302020204030204" pitchFamily="34" charset="0"/>
              </a:rPr>
              <a:t>Channels</a:t>
            </a:r>
            <a:r>
              <a:rPr lang="pl-PL" sz="2000" dirty="0">
                <a:latin typeface="Calibri Light" panose="020F0302020204030204" pitchFamily="34" charset="0"/>
                <a:cs typeface="Calibri Light" panose="020F0302020204030204" pitchFamily="34" charset="0"/>
              </a:rPr>
              <a:t>:</a:t>
            </a:r>
          </a:p>
          <a:p>
            <a:pPr lvl="1"/>
            <a:r>
              <a:rPr lang="pl-PL" sz="2000" dirty="0">
                <a:latin typeface="Calibri Light" panose="020F0302020204030204" pitchFamily="34" charset="0"/>
                <a:cs typeface="Calibri Light" panose="020F0302020204030204" pitchFamily="34" charset="0"/>
              </a:rPr>
              <a:t>public </a:t>
            </a:r>
            <a:r>
              <a:rPr lang="pl-PL" sz="2000" dirty="0" err="1">
                <a:latin typeface="Calibri Light" panose="020F0302020204030204" pitchFamily="34" charset="0"/>
                <a:cs typeface="Calibri Light" panose="020F0302020204030204" pitchFamily="34" charset="0"/>
              </a:rPr>
              <a:t>information</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bulletin</a:t>
            </a:r>
            <a:r>
              <a:rPr lang="pl-PL" sz="2000" dirty="0">
                <a:latin typeface="Calibri Light" panose="020F0302020204030204" pitchFamily="34" charset="0"/>
                <a:cs typeface="Calibri Light" panose="020F0302020204030204" pitchFamily="34" charset="0"/>
              </a:rPr>
              <a:t> </a:t>
            </a:r>
          </a:p>
          <a:p>
            <a:pPr lvl="1"/>
            <a:r>
              <a:rPr lang="pl-PL" sz="2000" dirty="0" err="1">
                <a:latin typeface="Calibri Light" panose="020F0302020204030204" pitchFamily="34" charset="0"/>
                <a:cs typeface="Calibri Light" panose="020F0302020204030204" pitchFamily="34" charset="0"/>
              </a:rPr>
              <a:t>emails</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sent</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directly</a:t>
            </a:r>
            <a:r>
              <a:rPr lang="pl-PL" sz="2000" dirty="0">
                <a:latin typeface="Calibri Light" panose="020F0302020204030204" pitchFamily="34" charset="0"/>
                <a:cs typeface="Calibri Light" panose="020F0302020204030204" pitchFamily="34" charset="0"/>
              </a:rPr>
              <a:t> to </a:t>
            </a:r>
            <a:r>
              <a:rPr lang="pl-PL" sz="2000" dirty="0" err="1">
                <a:latin typeface="Calibri Light" panose="020F0302020204030204" pitchFamily="34" charset="0"/>
                <a:cs typeface="Calibri Light" panose="020F0302020204030204" pitchFamily="34" charset="0"/>
              </a:rPr>
              <a:t>research</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agencies</a:t>
            </a:r>
            <a:endParaRPr lang="pl-PL" sz="2000" dirty="0">
              <a:latin typeface="Calibri Light" panose="020F0302020204030204" pitchFamily="34" charset="0"/>
              <a:cs typeface="Calibri Light" panose="020F0302020204030204" pitchFamily="34" charset="0"/>
            </a:endParaRPr>
          </a:p>
          <a:p>
            <a:r>
              <a:rPr lang="pl-PL" sz="2000" dirty="0" err="1">
                <a:latin typeface="Calibri Light" panose="020F0302020204030204" pitchFamily="34" charset="0"/>
                <a:cs typeface="Calibri Light" panose="020F0302020204030204" pitchFamily="34" charset="0"/>
              </a:rPr>
              <a:t>Subject</a:t>
            </a:r>
            <a:r>
              <a:rPr lang="pl-PL" sz="2000" dirty="0">
                <a:latin typeface="Calibri Light" panose="020F0302020204030204" pitchFamily="34" charset="0"/>
                <a:cs typeface="Calibri Light" panose="020F0302020204030204" pitchFamily="34" charset="0"/>
              </a:rPr>
              <a:t> of </a:t>
            </a:r>
            <a:r>
              <a:rPr lang="pl-PL" sz="2000" dirty="0" err="1">
                <a:latin typeface="Calibri Light" panose="020F0302020204030204" pitchFamily="34" charset="0"/>
                <a:cs typeface="Calibri Light" panose="020F0302020204030204" pitchFamily="34" charset="0"/>
              </a:rPr>
              <a:t>contract</a:t>
            </a:r>
            <a:r>
              <a:rPr lang="pl-PL" sz="2000" dirty="0">
                <a:latin typeface="Calibri Light" panose="020F0302020204030204" pitchFamily="34" charset="0"/>
                <a:cs typeface="Calibri Light" panose="020F0302020204030204" pitchFamily="34" charset="0"/>
              </a:rPr>
              <a:t>: </a:t>
            </a:r>
          </a:p>
          <a:p>
            <a:pPr lvl="1"/>
            <a:r>
              <a:rPr lang="pl-PL" sz="2000" dirty="0" err="1">
                <a:latin typeface="Calibri Light" panose="020F0302020204030204" pitchFamily="34" charset="0"/>
                <a:cs typeface="Calibri Light" panose="020F0302020204030204" pitchFamily="34" charset="0"/>
              </a:rPr>
              <a:t>Survey</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study</a:t>
            </a:r>
            <a:r>
              <a:rPr lang="pl-PL" sz="2000" dirty="0">
                <a:latin typeface="Calibri Light" panose="020F0302020204030204" pitchFamily="34" charset="0"/>
                <a:cs typeface="Calibri Light" panose="020F0302020204030204" pitchFamily="34" charset="0"/>
              </a:rPr>
              <a:t> with choice </a:t>
            </a:r>
            <a:r>
              <a:rPr lang="pl-PL" sz="2000" dirty="0" err="1">
                <a:latin typeface="Calibri Light" panose="020F0302020204030204" pitchFamily="34" charset="0"/>
                <a:cs typeface="Calibri Light" panose="020F0302020204030204" pitchFamily="34" charset="0"/>
              </a:rPr>
              <a:t>based</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conjoint</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experiment</a:t>
            </a:r>
            <a:r>
              <a:rPr lang="pl-PL" sz="2000" dirty="0">
                <a:latin typeface="Calibri Light" panose="020F0302020204030204" pitchFamily="34" charset="0"/>
                <a:cs typeface="Calibri Light" panose="020F0302020204030204" pitchFamily="34" charset="0"/>
              </a:rPr>
              <a:t> in </a:t>
            </a:r>
            <a:r>
              <a:rPr lang="pl-PL" sz="2000" dirty="0" err="1">
                <a:latin typeface="Calibri Light" panose="020F0302020204030204" pitchFamily="34" charset="0"/>
                <a:cs typeface="Calibri Light" panose="020F0302020204030204" pitchFamily="34" charset="0"/>
              </a:rPr>
              <a:t>seven</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countries</a:t>
            </a:r>
            <a:r>
              <a:rPr lang="pl-PL" sz="2000" dirty="0">
                <a:latin typeface="Calibri Light" panose="020F0302020204030204" pitchFamily="34" charset="0"/>
                <a:cs typeface="Calibri Light" panose="020F0302020204030204" pitchFamily="34" charset="0"/>
              </a:rPr>
              <a:t>:  Poland, Czech Republic, </a:t>
            </a:r>
            <a:r>
              <a:rPr lang="pl-PL" sz="2000" dirty="0" err="1">
                <a:latin typeface="Calibri Light" panose="020F0302020204030204" pitchFamily="34" charset="0"/>
                <a:cs typeface="Calibri Light" panose="020F0302020204030204" pitchFamily="34" charset="0"/>
              </a:rPr>
              <a:t>Hungary</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Italy</a:t>
            </a:r>
            <a:r>
              <a:rPr lang="pl-PL" sz="2000" dirty="0">
                <a:latin typeface="Calibri Light" panose="020F0302020204030204" pitchFamily="34" charset="0"/>
                <a:cs typeface="Calibri Light" panose="020F0302020204030204" pitchFamily="34" charset="0"/>
              </a:rPr>
              <a:t>, Austria, France, and the United </a:t>
            </a:r>
            <a:r>
              <a:rPr lang="pl-PL" sz="2000" dirty="0" err="1">
                <a:latin typeface="Calibri Light" panose="020F0302020204030204" pitchFamily="34" charset="0"/>
                <a:cs typeface="Calibri Light" panose="020F0302020204030204" pitchFamily="34" charset="0"/>
              </a:rPr>
              <a:t>Kingdom</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conductes</a:t>
            </a:r>
            <a:r>
              <a:rPr lang="pl-PL" sz="2000" dirty="0">
                <a:latin typeface="Calibri Light" panose="020F0302020204030204" pitchFamily="34" charset="0"/>
                <a:cs typeface="Calibri Light" panose="020F0302020204030204" pitchFamily="34" charset="0"/>
              </a:rPr>
              <a:t> in </a:t>
            </a:r>
            <a:r>
              <a:rPr lang="pl-PL" sz="2000" dirty="0" err="1">
                <a:latin typeface="Calibri Light" panose="020F0302020204030204" pitchFamily="34" charset="0"/>
                <a:cs typeface="Calibri Light" panose="020F0302020204030204" pitchFamily="34" charset="0"/>
              </a:rPr>
              <a:t>June</a:t>
            </a:r>
            <a:r>
              <a:rPr lang="pl-PL" sz="2000" dirty="0">
                <a:latin typeface="Calibri Light" panose="020F0302020204030204" pitchFamily="34" charset="0"/>
                <a:cs typeface="Calibri Light" panose="020F0302020204030204" pitchFamily="34" charset="0"/>
              </a:rPr>
              <a:t> 2024 on on a </a:t>
            </a:r>
            <a:r>
              <a:rPr lang="pl-PL" sz="2000" dirty="0" err="1">
                <a:latin typeface="Calibri Light" panose="020F0302020204030204" pitchFamily="34" charset="0"/>
                <a:cs typeface="Calibri Light" panose="020F0302020204030204" pitchFamily="34" charset="0"/>
              </a:rPr>
              <a:t>representative</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sample</a:t>
            </a:r>
            <a:r>
              <a:rPr lang="pl-PL" sz="2000" dirty="0">
                <a:latin typeface="Calibri Light" panose="020F0302020204030204" pitchFamily="34" charset="0"/>
                <a:cs typeface="Calibri Light" panose="020F0302020204030204" pitchFamily="34" charset="0"/>
              </a:rPr>
              <a:t> of the </a:t>
            </a:r>
            <a:r>
              <a:rPr lang="pl-PL" sz="2000" dirty="0" err="1">
                <a:latin typeface="Calibri Light" panose="020F0302020204030204" pitchFamily="34" charset="0"/>
                <a:cs typeface="Calibri Light" panose="020F0302020204030204" pitchFamily="34" charset="0"/>
              </a:rPr>
              <a:t>eligible</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population</a:t>
            </a:r>
            <a:r>
              <a:rPr lang="pl-PL" sz="2000" dirty="0">
                <a:latin typeface="Calibri Light" panose="020F0302020204030204" pitchFamily="34" charset="0"/>
                <a:cs typeface="Calibri Light" panose="020F0302020204030204" pitchFamily="34" charset="0"/>
              </a:rPr>
              <a:t> of </a:t>
            </a:r>
            <a:r>
              <a:rPr lang="pl-PL" sz="2000" dirty="0" err="1">
                <a:latin typeface="Calibri Light" panose="020F0302020204030204" pitchFamily="34" charset="0"/>
                <a:cs typeface="Calibri Light" panose="020F0302020204030204" pitchFamily="34" charset="0"/>
              </a:rPr>
              <a:t>each</a:t>
            </a:r>
            <a:r>
              <a:rPr lang="pl-PL" sz="2000" dirty="0">
                <a:latin typeface="Calibri Light" panose="020F0302020204030204" pitchFamily="34" charset="0"/>
                <a:cs typeface="Calibri Light" panose="020F0302020204030204" pitchFamily="34" charset="0"/>
              </a:rPr>
              <a:t> country (16 and </a:t>
            </a:r>
            <a:r>
              <a:rPr lang="pl-PL" sz="2000" dirty="0" err="1">
                <a:latin typeface="Calibri Light" panose="020F0302020204030204" pitchFamily="34" charset="0"/>
                <a:cs typeface="Calibri Light" panose="020F0302020204030204" pitchFamily="34" charset="0"/>
              </a:rPr>
              <a:t>over</a:t>
            </a:r>
            <a:r>
              <a:rPr lang="pl-PL" sz="2000" dirty="0">
                <a:latin typeface="Calibri Light" panose="020F0302020204030204" pitchFamily="34" charset="0"/>
                <a:cs typeface="Calibri Light" panose="020F0302020204030204" pitchFamily="34" charset="0"/>
              </a:rPr>
              <a:t> for Austria and 18 and </a:t>
            </a:r>
            <a:r>
              <a:rPr lang="pl-PL" sz="2000" dirty="0" err="1">
                <a:latin typeface="Calibri Light" panose="020F0302020204030204" pitchFamily="34" charset="0"/>
                <a:cs typeface="Calibri Light" panose="020F0302020204030204" pitchFamily="34" charset="0"/>
              </a:rPr>
              <a:t>over</a:t>
            </a:r>
            <a:r>
              <a:rPr lang="pl-PL" sz="2000" dirty="0">
                <a:latin typeface="Calibri Light" panose="020F0302020204030204" pitchFamily="34" charset="0"/>
                <a:cs typeface="Calibri Light" panose="020F0302020204030204" pitchFamily="34" charset="0"/>
              </a:rPr>
              <a:t> for the </a:t>
            </a:r>
            <a:r>
              <a:rPr lang="pl-PL" sz="2000" dirty="0" err="1">
                <a:latin typeface="Calibri Light" panose="020F0302020204030204" pitchFamily="34" charset="0"/>
                <a:cs typeface="Calibri Light" panose="020F0302020204030204" pitchFamily="34" charset="0"/>
              </a:rPr>
              <a:t>rest</a:t>
            </a:r>
            <a:r>
              <a:rPr lang="pl-PL" sz="2000" dirty="0">
                <a:latin typeface="Calibri Light" panose="020F0302020204030204" pitchFamily="34" charset="0"/>
                <a:cs typeface="Calibri Light" panose="020F0302020204030204" pitchFamily="34" charset="0"/>
              </a:rPr>
              <a:t> of the </a:t>
            </a:r>
            <a:r>
              <a:rPr lang="pl-PL" sz="2000" dirty="0" err="1">
                <a:latin typeface="Calibri Light" panose="020F0302020204030204" pitchFamily="34" charset="0"/>
                <a:cs typeface="Calibri Light" panose="020F0302020204030204" pitchFamily="34" charset="0"/>
              </a:rPr>
              <a:t>countries</a:t>
            </a:r>
            <a:r>
              <a:rPr lang="pl-PL" sz="2000" dirty="0">
                <a:latin typeface="Calibri Light" panose="020F0302020204030204" pitchFamily="34" charset="0"/>
                <a:cs typeface="Calibri Light" panose="020F0302020204030204" pitchFamily="34" charset="0"/>
              </a:rPr>
              <a:t>, with no </a:t>
            </a:r>
            <a:r>
              <a:rPr lang="pl-PL" sz="2000" dirty="0" err="1">
                <a:latin typeface="Calibri Light" panose="020F0302020204030204" pitchFamily="34" charset="0"/>
                <a:cs typeface="Calibri Light" panose="020F0302020204030204" pitchFamily="34" charset="0"/>
              </a:rPr>
              <a:t>upper</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age</a:t>
            </a:r>
            <a:r>
              <a:rPr lang="pl-PL" sz="2000" dirty="0">
                <a:latin typeface="Calibri Light" panose="020F0302020204030204" pitchFamily="34" charset="0"/>
                <a:cs typeface="Calibri Light" panose="020F0302020204030204" pitchFamily="34" charset="0"/>
              </a:rPr>
              <a:t> limit). </a:t>
            </a:r>
          </a:p>
          <a:p>
            <a:pPr lvl="1"/>
            <a:r>
              <a:rPr lang="pl-PL" sz="2000" dirty="0" err="1">
                <a:latin typeface="Calibri Light" panose="020F0302020204030204" pitchFamily="34" charset="0"/>
                <a:cs typeface="Calibri Light" panose="020F0302020204030204" pitchFamily="34" charset="0"/>
              </a:rPr>
              <a:t>Aim</a:t>
            </a:r>
            <a:r>
              <a:rPr lang="pl-PL" sz="2000" dirty="0">
                <a:latin typeface="Calibri Light" panose="020F0302020204030204" pitchFamily="34" charset="0"/>
                <a:cs typeface="Calibri Light" panose="020F0302020204030204" pitchFamily="34" charset="0"/>
              </a:rPr>
              <a:t> of the </a:t>
            </a:r>
            <a:r>
              <a:rPr lang="pl-PL" sz="2000" dirty="0" err="1">
                <a:latin typeface="Calibri Light" panose="020F0302020204030204" pitchFamily="34" charset="0"/>
                <a:cs typeface="Calibri Light" panose="020F0302020204030204" pitchFamily="34" charset="0"/>
              </a:rPr>
              <a:t>survey</a:t>
            </a:r>
            <a:r>
              <a:rPr lang="pl-PL" sz="2000" dirty="0">
                <a:latin typeface="Calibri Light" panose="020F0302020204030204" pitchFamily="34" charset="0"/>
                <a:cs typeface="Calibri Light" panose="020F0302020204030204" pitchFamily="34" charset="0"/>
              </a:rPr>
              <a:t>: to </a:t>
            </a:r>
            <a:r>
              <a:rPr lang="pl-PL" sz="2000" dirty="0" err="1">
                <a:latin typeface="Calibri Light" panose="020F0302020204030204" pitchFamily="34" charset="0"/>
                <a:cs typeface="Calibri Light" panose="020F0302020204030204" pitchFamily="34" charset="0"/>
              </a:rPr>
              <a:t>provide</a:t>
            </a:r>
            <a:r>
              <a:rPr lang="pl-PL" sz="2000" dirty="0">
                <a:latin typeface="Calibri Light" panose="020F0302020204030204" pitchFamily="34" charset="0"/>
                <a:cs typeface="Calibri Light" panose="020F0302020204030204" pitchFamily="34" charset="0"/>
              </a:rPr>
              <a:t> data on </a:t>
            </a:r>
            <a:r>
              <a:rPr lang="pl-PL" sz="2000" dirty="0" err="1">
                <a:latin typeface="Calibri Light" panose="020F0302020204030204" pitchFamily="34" charset="0"/>
                <a:cs typeface="Calibri Light" panose="020F0302020204030204" pitchFamily="34" charset="0"/>
              </a:rPr>
              <a:t>illiberal</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authoritarian</a:t>
            </a:r>
            <a:r>
              <a:rPr lang="pl-PL" sz="2000" dirty="0">
                <a:latin typeface="Calibri Light" panose="020F0302020204030204" pitchFamily="34" charset="0"/>
                <a:cs typeface="Calibri Light" panose="020F0302020204030204" pitchFamily="34" charset="0"/>
              </a:rPr>
              <a:t> and </a:t>
            </a:r>
            <a:r>
              <a:rPr lang="pl-PL" sz="2000" dirty="0" err="1">
                <a:latin typeface="Calibri Light" panose="020F0302020204030204" pitchFamily="34" charset="0"/>
                <a:cs typeface="Calibri Light" panose="020F0302020204030204" pitchFamily="34" charset="0"/>
              </a:rPr>
              <a:t>populist</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orientations</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which</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enable</a:t>
            </a:r>
            <a:r>
              <a:rPr lang="pl-PL" sz="2000" dirty="0">
                <a:latin typeface="Calibri Light" panose="020F0302020204030204" pitchFamily="34" charset="0"/>
                <a:cs typeface="Calibri Light" panose="020F0302020204030204" pitchFamily="34" charset="0"/>
              </a:rPr>
              <a:t> to </a:t>
            </a:r>
            <a:r>
              <a:rPr lang="pl-PL" sz="2000" dirty="0" err="1">
                <a:latin typeface="Calibri Light" panose="020F0302020204030204" pitchFamily="34" charset="0"/>
                <a:cs typeface="Calibri Light" panose="020F0302020204030204" pitchFamily="34" charset="0"/>
              </a:rPr>
              <a:t>identify</a:t>
            </a:r>
            <a:r>
              <a:rPr lang="pl-PL" sz="2000" dirty="0">
                <a:latin typeface="Calibri Light" panose="020F0302020204030204" pitchFamily="34" charset="0"/>
                <a:cs typeface="Calibri Light" panose="020F0302020204030204" pitchFamily="34" charset="0"/>
              </a:rPr>
              <a:t> the </a:t>
            </a:r>
            <a:r>
              <a:rPr lang="pl-PL" sz="2000" dirty="0" err="1">
                <a:latin typeface="Calibri Light" panose="020F0302020204030204" pitchFamily="34" charset="0"/>
                <a:cs typeface="Calibri Light" panose="020F0302020204030204" pitchFamily="34" charset="0"/>
              </a:rPr>
              <a:t>mechanisms</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behind</a:t>
            </a:r>
            <a:r>
              <a:rPr lang="pl-PL" sz="2000" dirty="0">
                <a:latin typeface="Calibri Light" panose="020F0302020204030204" pitchFamily="34" charset="0"/>
                <a:cs typeface="Calibri Light" panose="020F0302020204030204" pitchFamily="34" charset="0"/>
              </a:rPr>
              <a:t> the </a:t>
            </a:r>
            <a:r>
              <a:rPr lang="pl-PL" sz="2000" dirty="0" err="1">
                <a:latin typeface="Calibri Light" panose="020F0302020204030204" pitchFamily="34" charset="0"/>
                <a:cs typeface="Calibri Light" panose="020F0302020204030204" pitchFamily="34" charset="0"/>
              </a:rPr>
              <a:t>acceptance</a:t>
            </a:r>
            <a:r>
              <a:rPr lang="pl-PL" sz="2000" dirty="0">
                <a:latin typeface="Calibri Light" panose="020F0302020204030204" pitchFamily="34" charset="0"/>
                <a:cs typeface="Calibri Light" panose="020F0302020204030204" pitchFamily="34" charset="0"/>
              </a:rPr>
              <a:t> and </a:t>
            </a:r>
            <a:r>
              <a:rPr lang="pl-PL" sz="2000" dirty="0" err="1">
                <a:latin typeface="Calibri Light" panose="020F0302020204030204" pitchFamily="34" charset="0"/>
                <a:cs typeface="Calibri Light" panose="020F0302020204030204" pitchFamily="34" charset="0"/>
              </a:rPr>
              <a:t>rejection</a:t>
            </a:r>
            <a:r>
              <a:rPr lang="pl-PL" sz="2000" dirty="0">
                <a:latin typeface="Calibri Light" panose="020F0302020204030204" pitchFamily="34" charset="0"/>
                <a:cs typeface="Calibri Light" panose="020F0302020204030204" pitchFamily="34" charset="0"/>
              </a:rPr>
              <a:t> of </a:t>
            </a:r>
            <a:r>
              <a:rPr lang="pl-PL" sz="2000" dirty="0" err="1">
                <a:latin typeface="Calibri Light" panose="020F0302020204030204" pitchFamily="34" charset="0"/>
                <a:cs typeface="Calibri Light" panose="020F0302020204030204" pitchFamily="34" charset="0"/>
              </a:rPr>
              <a:t>particular</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illiberal</a:t>
            </a:r>
            <a:r>
              <a:rPr lang="pl-PL" sz="2000" dirty="0">
                <a:latin typeface="Calibri Light" panose="020F0302020204030204" pitchFamily="34" charset="0"/>
                <a:cs typeface="Calibri Light" panose="020F0302020204030204" pitchFamily="34" charset="0"/>
              </a:rPr>
              <a:t>/</a:t>
            </a:r>
            <a:r>
              <a:rPr lang="pl-PL" sz="2000" dirty="0" err="1">
                <a:latin typeface="Calibri Light" panose="020F0302020204030204" pitchFamily="34" charset="0"/>
                <a:cs typeface="Calibri Light" panose="020F0302020204030204" pitchFamily="34" charset="0"/>
              </a:rPr>
              <a:t>authoritarian</a:t>
            </a:r>
            <a:r>
              <a:rPr lang="pl-PL" sz="2000" dirty="0">
                <a:latin typeface="Calibri Light" panose="020F0302020204030204" pitchFamily="34" charset="0"/>
                <a:cs typeface="Calibri Light" panose="020F0302020204030204" pitchFamily="34" charset="0"/>
              </a:rPr>
              <a:t>/</a:t>
            </a:r>
            <a:r>
              <a:rPr lang="pl-PL" sz="2000" dirty="0" err="1">
                <a:latin typeface="Calibri Light" panose="020F0302020204030204" pitchFamily="34" charset="0"/>
                <a:cs typeface="Calibri Light" panose="020F0302020204030204" pitchFamily="34" charset="0"/>
              </a:rPr>
              <a:t>populist</a:t>
            </a:r>
            <a:r>
              <a:rPr lang="pl-PL" sz="2000" dirty="0">
                <a:latin typeface="Calibri Light" panose="020F0302020204030204" pitchFamily="34" charset="0"/>
                <a:cs typeface="Calibri Light" panose="020F0302020204030204" pitchFamily="34" charset="0"/>
              </a:rPr>
              <a:t> </a:t>
            </a:r>
            <a:r>
              <a:rPr lang="pl-PL" sz="2000" dirty="0" err="1">
                <a:latin typeface="Calibri Light" panose="020F0302020204030204" pitchFamily="34" charset="0"/>
                <a:cs typeface="Calibri Light" panose="020F0302020204030204" pitchFamily="34" charset="0"/>
              </a:rPr>
              <a:t>frames</a:t>
            </a:r>
            <a:r>
              <a:rPr lang="pl-PL" sz="2000" dirty="0">
                <a:latin typeface="Calibri Light" panose="020F0302020204030204" pitchFamily="34" charset="0"/>
                <a:cs typeface="Calibri Light" panose="020F0302020204030204" pitchFamily="34" charset="0"/>
              </a:rPr>
              <a:t>. </a:t>
            </a:r>
          </a:p>
          <a:p>
            <a:pPr lvl="1"/>
            <a:endParaRPr lang="pl-PL" sz="2000" dirty="0">
              <a:latin typeface="Calibri Light" panose="020F0302020204030204" pitchFamily="34" charset="0"/>
              <a:cs typeface="Calibri Light" panose="020F0302020204030204" pitchFamily="34" charset="0"/>
            </a:endParaRPr>
          </a:p>
          <a:p>
            <a:endParaRPr lang="pl-PL" sz="2000" dirty="0">
              <a:latin typeface="Calibri Light" panose="020F0302020204030204" pitchFamily="34" charset="0"/>
              <a:cs typeface="Calibri Light" panose="020F0302020204030204" pitchFamily="34" charset="0"/>
            </a:endParaRPr>
          </a:p>
          <a:p>
            <a:endParaRPr lang="pl-PL" sz="2000" dirty="0">
              <a:latin typeface="Calibri Light" panose="020F0302020204030204" pitchFamily="34" charset="0"/>
              <a:cs typeface="Calibri Light" panose="020F0302020204030204" pitchFamily="34" charset="0"/>
            </a:endParaRPr>
          </a:p>
          <a:p>
            <a:endParaRPr lang="pl-PL" sz="2000" dirty="0">
              <a:latin typeface="Calibri Light" panose="020F0302020204030204" pitchFamily="34" charset="0"/>
              <a:cs typeface="Calibri Light" panose="020F0302020204030204" pitchFamily="34" charset="0"/>
            </a:endParaRPr>
          </a:p>
          <a:p>
            <a:endParaRPr lang="pl-PL" sz="20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521920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87FA10B-2A46-FC0E-6E0B-38E7E425D2AF}"/>
              </a:ext>
            </a:extLst>
          </p:cNvPr>
          <p:cNvSpPr>
            <a:spLocks noGrp="1"/>
          </p:cNvSpPr>
          <p:nvPr>
            <p:ph type="title"/>
          </p:nvPr>
        </p:nvSpPr>
        <p:spPr/>
        <p:txBody>
          <a:bodyPr>
            <a:normAutofit/>
          </a:bodyPr>
          <a:lstStyle/>
          <a:p>
            <a:r>
              <a:rPr lang="pl-PL" sz="4000" dirty="0" err="1"/>
              <a:t>Conditions</a:t>
            </a:r>
            <a:r>
              <a:rPr lang="pl-PL" sz="4000" dirty="0"/>
              <a:t> for </a:t>
            </a:r>
            <a:r>
              <a:rPr lang="pl-PL" sz="4000" dirty="0" err="1"/>
              <a:t>participation</a:t>
            </a:r>
            <a:r>
              <a:rPr lang="pl-PL" sz="4000" dirty="0"/>
              <a:t> in the </a:t>
            </a:r>
            <a:r>
              <a:rPr lang="pl-PL" sz="4000" dirty="0" err="1"/>
              <a:t>procedure</a:t>
            </a:r>
            <a:endParaRPr lang="pl-PL" sz="4000" dirty="0"/>
          </a:p>
        </p:txBody>
      </p:sp>
      <p:sp>
        <p:nvSpPr>
          <p:cNvPr id="3" name="Symbol zastępczy zawartości 2">
            <a:extLst>
              <a:ext uri="{FF2B5EF4-FFF2-40B4-BE49-F238E27FC236}">
                <a16:creationId xmlns:a16="http://schemas.microsoft.com/office/drawing/2014/main" id="{ACEFED32-FEF3-A26A-3708-4CD9C1394D5E}"/>
              </a:ext>
            </a:extLst>
          </p:cNvPr>
          <p:cNvSpPr>
            <a:spLocks noGrp="1"/>
          </p:cNvSpPr>
          <p:nvPr>
            <p:ph idx="1"/>
          </p:nvPr>
        </p:nvSpPr>
        <p:spPr/>
        <p:txBody>
          <a:bodyPr>
            <a:normAutofit/>
          </a:bodyPr>
          <a:lstStyle/>
          <a:p>
            <a:pPr rtl="0">
              <a:spcBef>
                <a:spcPts val="56"/>
              </a:spcBef>
              <a:spcAft>
                <a:spcPts val="800"/>
              </a:spcAft>
            </a:pPr>
            <a:r>
              <a:rPr lang="pl-PL" sz="2000" dirty="0">
                <a:solidFill>
                  <a:srgbClr val="000000"/>
                </a:solidFill>
                <a:latin typeface="Calibri Light" panose="020F0302020204030204" pitchFamily="34" charset="0"/>
                <a:cs typeface="Calibri Light" panose="020F0302020204030204" pitchFamily="34" charset="0"/>
              </a:rPr>
              <a:t>K</a:t>
            </a:r>
            <a:r>
              <a:rPr lang="pl-PL" sz="2000" u="none" strike="noStrike" dirty="0">
                <a:solidFill>
                  <a:srgbClr val="000000"/>
                </a:solidFill>
                <a:effectLst/>
                <a:latin typeface="Calibri Light" panose="020F0302020204030204" pitchFamily="34" charset="0"/>
                <a:cs typeface="Calibri Light" panose="020F0302020204030204" pitchFamily="34" charset="0"/>
              </a:rPr>
              <a:t>nowledge and </a:t>
            </a:r>
            <a:r>
              <a:rPr lang="pl-PL" sz="2000" u="none" strike="noStrike" dirty="0" err="1">
                <a:solidFill>
                  <a:srgbClr val="000000"/>
                </a:solidFill>
                <a:effectLst/>
                <a:latin typeface="Calibri Light" panose="020F0302020204030204" pitchFamily="34" charset="0"/>
                <a:cs typeface="Calibri Light" panose="020F0302020204030204" pitchFamily="34" charset="0"/>
              </a:rPr>
              <a:t>experience</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necessary</a:t>
            </a:r>
            <a:r>
              <a:rPr lang="pl-PL" sz="2000" u="none" strike="noStrike" dirty="0">
                <a:solidFill>
                  <a:srgbClr val="000000"/>
                </a:solidFill>
                <a:effectLst/>
                <a:latin typeface="Calibri Light" panose="020F0302020204030204" pitchFamily="34" charset="0"/>
                <a:cs typeface="Calibri Light" panose="020F0302020204030204" pitchFamily="34" charset="0"/>
              </a:rPr>
              <a:t> to </a:t>
            </a:r>
            <a:r>
              <a:rPr lang="pl-PL" sz="2000" u="none" strike="noStrike" dirty="0" err="1">
                <a:solidFill>
                  <a:srgbClr val="000000"/>
                </a:solidFill>
                <a:effectLst/>
                <a:latin typeface="Calibri Light" panose="020F0302020204030204" pitchFamily="34" charset="0"/>
                <a:cs typeface="Calibri Light" panose="020F0302020204030204" pitchFamily="34" charset="0"/>
              </a:rPr>
              <a:t>execute</a:t>
            </a:r>
            <a:r>
              <a:rPr lang="pl-PL" sz="2000" u="none" strike="noStrike" dirty="0">
                <a:solidFill>
                  <a:srgbClr val="000000"/>
                </a:solidFill>
                <a:effectLst/>
                <a:latin typeface="Calibri Light" panose="020F0302020204030204" pitchFamily="34" charset="0"/>
                <a:cs typeface="Calibri Light" panose="020F0302020204030204" pitchFamily="34" charset="0"/>
              </a:rPr>
              <a:t> the order, </a:t>
            </a:r>
            <a:r>
              <a:rPr lang="pl-PL" sz="2000" u="none" strike="noStrike" dirty="0" err="1">
                <a:solidFill>
                  <a:srgbClr val="000000"/>
                </a:solidFill>
                <a:effectLst/>
                <a:latin typeface="Calibri Light" panose="020F0302020204030204" pitchFamily="34" charset="0"/>
                <a:cs typeface="Calibri Light" panose="020F0302020204030204" pitchFamily="34" charset="0"/>
              </a:rPr>
              <a:t>including</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technical</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ability</a:t>
            </a:r>
            <a:r>
              <a:rPr lang="pl-PL" sz="2000" u="none" strike="noStrike" dirty="0">
                <a:solidFill>
                  <a:srgbClr val="000000"/>
                </a:solidFill>
                <a:effectLst/>
                <a:latin typeface="Calibri Light" panose="020F0302020204030204" pitchFamily="34" charset="0"/>
                <a:cs typeface="Calibri Light" panose="020F0302020204030204" pitchFamily="34" charset="0"/>
              </a:rPr>
              <a:t> to </a:t>
            </a:r>
            <a:r>
              <a:rPr lang="pl-PL" sz="2000" u="none" strike="noStrike" dirty="0" err="1">
                <a:solidFill>
                  <a:srgbClr val="000000"/>
                </a:solidFill>
                <a:effectLst/>
                <a:latin typeface="Calibri Light" panose="020F0302020204030204" pitchFamily="34" charset="0"/>
                <a:cs typeface="Calibri Light" panose="020F0302020204030204" pitchFamily="34" charset="0"/>
              </a:rPr>
              <a:t>conduct</a:t>
            </a:r>
            <a:r>
              <a:rPr lang="pl-PL" sz="2000" u="none" strike="noStrike" dirty="0">
                <a:solidFill>
                  <a:srgbClr val="000000"/>
                </a:solidFill>
                <a:effectLst/>
                <a:latin typeface="Calibri Light" panose="020F0302020204030204" pitchFamily="34" charset="0"/>
                <a:cs typeface="Calibri Light" panose="020F0302020204030204" pitchFamily="34" charset="0"/>
              </a:rPr>
              <a:t> the </a:t>
            </a:r>
            <a:r>
              <a:rPr lang="pl-PL" sz="2000" u="none" strike="noStrike" dirty="0" err="1">
                <a:solidFill>
                  <a:srgbClr val="000000"/>
                </a:solidFill>
                <a:effectLst/>
                <a:latin typeface="Calibri Light" panose="020F0302020204030204" pitchFamily="34" charset="0"/>
                <a:cs typeface="Calibri Light" panose="020F0302020204030204" pitchFamily="34" charset="0"/>
              </a:rPr>
              <a:t>study</a:t>
            </a:r>
            <a:r>
              <a:rPr lang="pl-PL" sz="2000" u="none" strike="noStrike" dirty="0">
                <a:solidFill>
                  <a:srgbClr val="000000"/>
                </a:solidFill>
                <a:effectLst/>
                <a:latin typeface="Calibri Light" panose="020F0302020204030204" pitchFamily="34" charset="0"/>
                <a:cs typeface="Calibri Light" panose="020F0302020204030204" pitchFamily="34" charset="0"/>
              </a:rPr>
              <a:t> and </a:t>
            </a:r>
            <a:r>
              <a:rPr lang="pl-PL" sz="2000" u="none" strike="noStrike" dirty="0" err="1">
                <a:solidFill>
                  <a:srgbClr val="000000"/>
                </a:solidFill>
                <a:effectLst/>
                <a:latin typeface="Calibri Light" panose="020F0302020204030204" pitchFamily="34" charset="0"/>
                <a:cs typeface="Calibri Light" panose="020F0302020204030204" pitchFamily="34" charset="0"/>
              </a:rPr>
              <a:t>prior</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experience</a:t>
            </a:r>
            <a:r>
              <a:rPr lang="pl-PL" sz="2000" u="none" strike="noStrike" dirty="0">
                <a:solidFill>
                  <a:srgbClr val="000000"/>
                </a:solidFill>
                <a:effectLst/>
                <a:latin typeface="Calibri Light" panose="020F0302020204030204" pitchFamily="34" charset="0"/>
                <a:cs typeface="Calibri Light" panose="020F0302020204030204" pitchFamily="34" charset="0"/>
              </a:rPr>
              <a:t> in </a:t>
            </a:r>
            <a:r>
              <a:rPr lang="pl-PL" sz="2000" u="none" strike="noStrike" dirty="0" err="1">
                <a:solidFill>
                  <a:srgbClr val="000000"/>
                </a:solidFill>
                <a:effectLst/>
                <a:latin typeface="Calibri Light" panose="020F0302020204030204" pitchFamily="34" charset="0"/>
                <a:cs typeface="Calibri Light" panose="020F0302020204030204" pitchFamily="34" charset="0"/>
              </a:rPr>
              <a:t>conducting</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multicountry</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studies</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p>
          <a:p>
            <a:pPr rtl="0">
              <a:spcBef>
                <a:spcPts val="56"/>
              </a:spcBef>
              <a:spcAft>
                <a:spcPts val="800"/>
              </a:spcAft>
            </a:pPr>
            <a:r>
              <a:rPr lang="pl-PL" sz="2000" dirty="0">
                <a:solidFill>
                  <a:srgbClr val="000000"/>
                </a:solidFill>
                <a:latin typeface="Calibri Light" panose="020F0302020204030204" pitchFamily="34" charset="0"/>
                <a:cs typeface="Calibri Light" panose="020F0302020204030204" pitchFamily="34" charset="0"/>
              </a:rPr>
              <a:t>H</a:t>
            </a:r>
            <a:r>
              <a:rPr lang="pl-PL" sz="2000" u="none" strike="noStrike" dirty="0">
                <a:solidFill>
                  <a:srgbClr val="000000"/>
                </a:solidFill>
                <a:effectLst/>
                <a:latin typeface="Calibri Light" panose="020F0302020204030204" pitchFamily="34" charset="0"/>
                <a:cs typeface="Calibri Light" panose="020F0302020204030204" pitchFamily="34" charset="0"/>
              </a:rPr>
              <a:t>uman and </a:t>
            </a:r>
            <a:r>
              <a:rPr lang="pl-PL" sz="2000" u="none" strike="noStrike" dirty="0" err="1">
                <a:solidFill>
                  <a:srgbClr val="000000"/>
                </a:solidFill>
                <a:effectLst/>
                <a:latin typeface="Calibri Light" panose="020F0302020204030204" pitchFamily="34" charset="0"/>
                <a:cs typeface="Calibri Light" panose="020F0302020204030204" pitchFamily="34" charset="0"/>
              </a:rPr>
              <a:t>technical</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resources</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necessary</a:t>
            </a:r>
            <a:r>
              <a:rPr lang="pl-PL" sz="2000" u="none" strike="noStrike" dirty="0">
                <a:solidFill>
                  <a:srgbClr val="000000"/>
                </a:solidFill>
                <a:effectLst/>
                <a:latin typeface="Calibri Light" panose="020F0302020204030204" pitchFamily="34" charset="0"/>
                <a:cs typeface="Calibri Light" panose="020F0302020204030204" pitchFamily="34" charset="0"/>
              </a:rPr>
              <a:t> to </a:t>
            </a:r>
            <a:r>
              <a:rPr lang="pl-PL" sz="2000" u="none" strike="noStrike" dirty="0" err="1">
                <a:solidFill>
                  <a:srgbClr val="000000"/>
                </a:solidFill>
                <a:effectLst/>
                <a:latin typeface="Calibri Light" panose="020F0302020204030204" pitchFamily="34" charset="0"/>
                <a:cs typeface="Calibri Light" panose="020F0302020204030204" pitchFamily="34" charset="0"/>
              </a:rPr>
              <a:t>execute</a:t>
            </a:r>
            <a:r>
              <a:rPr lang="pl-PL" sz="2000" u="none" strike="noStrike" dirty="0">
                <a:solidFill>
                  <a:srgbClr val="000000"/>
                </a:solidFill>
                <a:effectLst/>
                <a:latin typeface="Calibri Light" panose="020F0302020204030204" pitchFamily="34" charset="0"/>
                <a:cs typeface="Calibri Light" panose="020F0302020204030204" pitchFamily="34" charset="0"/>
              </a:rPr>
              <a:t> the order: </a:t>
            </a:r>
            <a:endParaRPr lang="pl-PL" sz="2000" dirty="0">
              <a:effectLst/>
              <a:latin typeface="Calibri Light" panose="020F0302020204030204" pitchFamily="34" charset="0"/>
              <a:cs typeface="Calibri Light" panose="020F0302020204030204" pitchFamily="34" charset="0"/>
            </a:endParaRPr>
          </a:p>
          <a:p>
            <a:pPr lvl="1">
              <a:spcAft>
                <a:spcPts val="800"/>
              </a:spcAft>
            </a:pPr>
            <a:r>
              <a:rPr lang="pl-PL" sz="2000" dirty="0" err="1">
                <a:solidFill>
                  <a:srgbClr val="000000"/>
                </a:solidFill>
                <a:latin typeface="Calibri Light" panose="020F0302020204030204" pitchFamily="34" charset="0"/>
                <a:cs typeface="Calibri Light" panose="020F0302020204030204" pitchFamily="34" charset="0"/>
              </a:rPr>
              <a:t>e</a:t>
            </a:r>
            <a:r>
              <a:rPr lang="pl-PL" sz="2000" u="none" strike="noStrike" dirty="0" err="1">
                <a:solidFill>
                  <a:srgbClr val="000000"/>
                </a:solidFill>
                <a:effectLst/>
                <a:latin typeface="Calibri Light" panose="020F0302020204030204" pitchFamily="34" charset="0"/>
                <a:cs typeface="Calibri Light" panose="020F0302020204030204" pitchFamily="34" charset="0"/>
              </a:rPr>
              <a:t>xperienced</a:t>
            </a:r>
            <a:r>
              <a:rPr lang="pl-PL" sz="2000" u="none" strike="noStrike" dirty="0">
                <a:solidFill>
                  <a:srgbClr val="000000"/>
                </a:solidFill>
                <a:effectLst/>
                <a:latin typeface="Calibri Light" panose="020F0302020204030204" pitchFamily="34" charset="0"/>
                <a:cs typeface="Calibri Light" panose="020F0302020204030204" pitchFamily="34" charset="0"/>
              </a:rPr>
              <a:t> person </a:t>
            </a:r>
            <a:r>
              <a:rPr lang="pl-PL" sz="2000" u="none" strike="noStrike" dirty="0" err="1">
                <a:solidFill>
                  <a:srgbClr val="000000"/>
                </a:solidFill>
                <a:effectLst/>
                <a:latin typeface="Calibri Light" panose="020F0302020204030204" pitchFamily="34" charset="0"/>
                <a:cs typeface="Calibri Light" panose="020F0302020204030204" pitchFamily="34" charset="0"/>
              </a:rPr>
              <a:t>who</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will</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personally</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participate</a:t>
            </a:r>
            <a:r>
              <a:rPr lang="pl-PL" sz="2000" u="none" strike="noStrike" dirty="0">
                <a:solidFill>
                  <a:srgbClr val="000000"/>
                </a:solidFill>
                <a:effectLst/>
                <a:latin typeface="Calibri Light" panose="020F0302020204030204" pitchFamily="34" charset="0"/>
                <a:cs typeface="Calibri Light" panose="020F0302020204030204" pitchFamily="34" charset="0"/>
              </a:rPr>
              <a:t> in the </a:t>
            </a:r>
            <a:r>
              <a:rPr lang="pl-PL" sz="2000" u="none" strike="noStrike" dirty="0" err="1">
                <a:solidFill>
                  <a:srgbClr val="000000"/>
                </a:solidFill>
                <a:effectLst/>
                <a:latin typeface="Calibri Light" panose="020F0302020204030204" pitchFamily="34" charset="0"/>
                <a:cs typeface="Calibri Light" panose="020F0302020204030204" pitchFamily="34" charset="0"/>
              </a:rPr>
              <a:t>execution</a:t>
            </a:r>
            <a:r>
              <a:rPr lang="pl-PL" sz="2000" u="none" strike="noStrike" dirty="0">
                <a:solidFill>
                  <a:srgbClr val="000000"/>
                </a:solidFill>
                <a:effectLst/>
                <a:latin typeface="Calibri Light" panose="020F0302020204030204" pitchFamily="34" charset="0"/>
                <a:cs typeface="Calibri Light" panose="020F0302020204030204" pitchFamily="34" charset="0"/>
              </a:rPr>
              <a:t> of the order; </a:t>
            </a:r>
          </a:p>
          <a:p>
            <a:pPr lvl="1">
              <a:spcAft>
                <a:spcPts val="800"/>
              </a:spcAft>
            </a:pPr>
            <a:r>
              <a:rPr lang="pl-PL" sz="2000" u="none" strike="noStrike" dirty="0" err="1">
                <a:solidFill>
                  <a:srgbClr val="000000"/>
                </a:solidFill>
                <a:effectLst/>
                <a:latin typeface="Calibri Light" panose="020F0302020204030204" pitchFamily="34" charset="0"/>
                <a:cs typeface="Calibri Light" panose="020F0302020204030204" pitchFamily="34" charset="0"/>
              </a:rPr>
              <a:t>has</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access</a:t>
            </a:r>
            <a:r>
              <a:rPr lang="pl-PL" sz="2000" u="none" strike="noStrike" dirty="0">
                <a:solidFill>
                  <a:srgbClr val="000000"/>
                </a:solidFill>
                <a:effectLst/>
                <a:latin typeface="Calibri Light" panose="020F0302020204030204" pitchFamily="34" charset="0"/>
                <a:cs typeface="Calibri Light" panose="020F0302020204030204" pitchFamily="34" charset="0"/>
              </a:rPr>
              <a:t> to </a:t>
            </a:r>
            <a:r>
              <a:rPr lang="pl-PL" sz="2000" u="none" strike="noStrike" dirty="0" err="1">
                <a:solidFill>
                  <a:srgbClr val="000000"/>
                </a:solidFill>
                <a:effectLst/>
                <a:latin typeface="Calibri Light" panose="020F0302020204030204" pitchFamily="34" charset="0"/>
                <a:cs typeface="Calibri Light" panose="020F0302020204030204" pitchFamily="34" charset="0"/>
              </a:rPr>
              <a:t>panels</a:t>
            </a:r>
            <a:r>
              <a:rPr lang="pl-PL" sz="2000" u="none" strike="noStrike" dirty="0">
                <a:solidFill>
                  <a:srgbClr val="000000"/>
                </a:solidFill>
                <a:effectLst/>
                <a:latin typeface="Calibri Light" panose="020F0302020204030204" pitchFamily="34" charset="0"/>
                <a:cs typeface="Calibri Light" panose="020F0302020204030204" pitchFamily="34" charset="0"/>
              </a:rPr>
              <a:t> in </a:t>
            </a:r>
            <a:r>
              <a:rPr lang="pl-PL" sz="2000" u="none" strike="noStrike" dirty="0" err="1">
                <a:solidFill>
                  <a:srgbClr val="000000"/>
                </a:solidFill>
                <a:effectLst/>
                <a:latin typeface="Calibri Light" panose="020F0302020204030204" pitchFamily="34" charset="0"/>
                <a:cs typeface="Calibri Light" panose="020F0302020204030204" pitchFamily="34" charset="0"/>
              </a:rPr>
              <a:t>excess</a:t>
            </a:r>
            <a:r>
              <a:rPr lang="pl-PL" sz="2000" u="none" strike="noStrike" dirty="0">
                <a:solidFill>
                  <a:srgbClr val="000000"/>
                </a:solidFill>
                <a:effectLst/>
                <a:latin typeface="Calibri Light" panose="020F0302020204030204" pitchFamily="34" charset="0"/>
                <a:cs typeface="Calibri Light" panose="020F0302020204030204" pitchFamily="34" charset="0"/>
              </a:rPr>
              <a:t> of ≥ 10,000 </a:t>
            </a:r>
            <a:r>
              <a:rPr lang="pl-PL" sz="2000" u="none" strike="noStrike" dirty="0" err="1">
                <a:solidFill>
                  <a:srgbClr val="000000"/>
                </a:solidFill>
                <a:effectLst/>
                <a:latin typeface="Calibri Light" panose="020F0302020204030204" pitchFamily="34" charset="0"/>
                <a:cs typeface="Calibri Light" panose="020F0302020204030204" pitchFamily="34" charset="0"/>
              </a:rPr>
              <a:t>individuals</a:t>
            </a:r>
            <a:r>
              <a:rPr lang="pl-PL" sz="2000" u="none" strike="noStrike" dirty="0">
                <a:solidFill>
                  <a:srgbClr val="000000"/>
                </a:solidFill>
                <a:effectLst/>
                <a:latin typeface="Calibri Light" panose="020F0302020204030204" pitchFamily="34" charset="0"/>
                <a:cs typeface="Calibri Light" panose="020F0302020204030204" pitchFamily="34" charset="0"/>
              </a:rPr>
              <a:t> in </a:t>
            </a:r>
            <a:r>
              <a:rPr lang="pl-PL" sz="2000" u="none" strike="noStrike" dirty="0" err="1">
                <a:solidFill>
                  <a:srgbClr val="000000"/>
                </a:solidFill>
                <a:effectLst/>
                <a:latin typeface="Calibri Light" panose="020F0302020204030204" pitchFamily="34" charset="0"/>
                <a:cs typeface="Calibri Light" panose="020F0302020204030204" pitchFamily="34" charset="0"/>
              </a:rPr>
              <a:t>each</a:t>
            </a:r>
            <a:r>
              <a:rPr lang="pl-PL" sz="2000" u="none" strike="noStrike" dirty="0">
                <a:solidFill>
                  <a:srgbClr val="000000"/>
                </a:solidFill>
                <a:effectLst/>
                <a:latin typeface="Calibri Light" panose="020F0302020204030204" pitchFamily="34" charset="0"/>
                <a:cs typeface="Calibri Light" panose="020F0302020204030204" pitchFamily="34" charset="0"/>
              </a:rPr>
              <a:t> of the </a:t>
            </a:r>
            <a:r>
              <a:rPr lang="pl-PL" sz="2000" u="none" strike="noStrike" dirty="0" err="1">
                <a:solidFill>
                  <a:srgbClr val="000000"/>
                </a:solidFill>
                <a:effectLst/>
                <a:latin typeface="Calibri Light" panose="020F0302020204030204" pitchFamily="34" charset="0"/>
                <a:cs typeface="Calibri Light" panose="020F0302020204030204" pitchFamily="34" charset="0"/>
              </a:rPr>
              <a:t>countries</a:t>
            </a:r>
            <a:r>
              <a:rPr lang="pl-PL" sz="2000" u="none" strike="noStrike" dirty="0">
                <a:solidFill>
                  <a:srgbClr val="000000"/>
                </a:solidFill>
                <a:effectLst/>
                <a:latin typeface="Calibri Light" panose="020F0302020204030204" pitchFamily="34" charset="0"/>
                <a:cs typeface="Calibri Light" panose="020F0302020204030204" pitchFamily="34" charset="0"/>
              </a:rPr>
              <a:t> of </a:t>
            </a:r>
            <a:r>
              <a:rPr lang="pl-PL" sz="2000" u="none" strike="noStrike" dirty="0" err="1">
                <a:solidFill>
                  <a:srgbClr val="000000"/>
                </a:solidFill>
                <a:effectLst/>
                <a:latin typeface="Calibri Light" panose="020F0302020204030204" pitchFamily="34" charset="0"/>
                <a:cs typeface="Calibri Light" panose="020F0302020204030204" pitchFamily="34" charset="0"/>
              </a:rPr>
              <a:t>study</a:t>
            </a:r>
            <a:r>
              <a:rPr lang="pl-PL" sz="2000" dirty="0">
                <a:solidFill>
                  <a:srgbClr val="000000"/>
                </a:solidFill>
                <a:latin typeface="Calibri Light" panose="020F0302020204030204" pitchFamily="34" charset="0"/>
                <a:cs typeface="Calibri Light" panose="020F0302020204030204" pitchFamily="34" charset="0"/>
              </a:rPr>
              <a:t>; </a:t>
            </a:r>
            <a:endParaRPr lang="pl-PL" sz="2000" u="none" strike="noStrike" dirty="0">
              <a:solidFill>
                <a:srgbClr val="000000"/>
              </a:solidFill>
              <a:effectLst/>
              <a:latin typeface="Calibri Light" panose="020F0302020204030204" pitchFamily="34" charset="0"/>
              <a:cs typeface="Calibri Light" panose="020F0302020204030204" pitchFamily="34" charset="0"/>
            </a:endParaRPr>
          </a:p>
          <a:p>
            <a:pPr lvl="1">
              <a:spcAft>
                <a:spcPts val="800"/>
              </a:spcAft>
            </a:pPr>
            <a:r>
              <a:rPr lang="pl-PL" sz="2000" u="none" strike="noStrike" dirty="0" err="1">
                <a:solidFill>
                  <a:srgbClr val="000000"/>
                </a:solidFill>
                <a:effectLst/>
                <a:latin typeface="Calibri Light" panose="020F0302020204030204" pitchFamily="34" charset="0"/>
                <a:cs typeface="Calibri Light" panose="020F0302020204030204" pitchFamily="34" charset="0"/>
              </a:rPr>
              <a:t>access</a:t>
            </a:r>
            <a:r>
              <a:rPr lang="pl-PL" sz="2000" u="none" strike="noStrike" dirty="0">
                <a:solidFill>
                  <a:srgbClr val="000000"/>
                </a:solidFill>
                <a:effectLst/>
                <a:latin typeface="Calibri Light" panose="020F0302020204030204" pitchFamily="34" charset="0"/>
                <a:cs typeface="Calibri Light" panose="020F0302020204030204" pitchFamily="34" charset="0"/>
              </a:rPr>
              <a:t> to </a:t>
            </a:r>
            <a:r>
              <a:rPr lang="pl-PL" sz="2000" u="none" strike="noStrike" dirty="0" err="1">
                <a:solidFill>
                  <a:srgbClr val="000000"/>
                </a:solidFill>
                <a:effectLst/>
                <a:latin typeface="Calibri Light" panose="020F0302020204030204" pitchFamily="34" charset="0"/>
                <a:cs typeface="Calibri Light" panose="020F0302020204030204" pitchFamily="34" charset="0"/>
              </a:rPr>
              <a:t>survey</a:t>
            </a:r>
            <a:r>
              <a:rPr lang="pl-PL" sz="2000" u="none" strike="noStrike" dirty="0">
                <a:solidFill>
                  <a:srgbClr val="000000"/>
                </a:solidFill>
                <a:effectLst/>
                <a:latin typeface="Calibri Light" panose="020F0302020204030204" pitchFamily="34" charset="0"/>
                <a:cs typeface="Calibri Light" panose="020F0302020204030204" pitchFamily="34" charset="0"/>
              </a:rPr>
              <a:t> networks  in Poland, Czech Republic and </a:t>
            </a:r>
            <a:r>
              <a:rPr lang="pl-PL" sz="2000" u="none" strike="noStrike" dirty="0" err="1">
                <a:solidFill>
                  <a:srgbClr val="000000"/>
                </a:solidFill>
                <a:effectLst/>
                <a:latin typeface="Calibri Light" panose="020F0302020204030204" pitchFamily="34" charset="0"/>
                <a:cs typeface="Calibri Light" panose="020F0302020204030204" pitchFamily="34" charset="0"/>
              </a:rPr>
              <a:t>Hungary</a:t>
            </a:r>
            <a:endParaRPr lang="pl-PL" sz="2000" dirty="0">
              <a:solidFill>
                <a:srgbClr val="000000"/>
              </a:solidFill>
              <a:latin typeface="Calibri Light" panose="020F0302020204030204" pitchFamily="34" charset="0"/>
              <a:cs typeface="Calibri Light" panose="020F0302020204030204" pitchFamily="34" charset="0"/>
            </a:endParaRPr>
          </a:p>
          <a:p>
            <a:pPr>
              <a:spcAft>
                <a:spcPts val="800"/>
              </a:spcAft>
            </a:pPr>
            <a:r>
              <a:rPr lang="pl-PL" sz="2000" u="none" strike="noStrike" dirty="0" err="1">
                <a:solidFill>
                  <a:srgbClr val="000000"/>
                </a:solidFill>
                <a:effectLst/>
                <a:latin typeface="Calibri Light" panose="020F0302020204030204" pitchFamily="34" charset="0"/>
                <a:cs typeface="Calibri Light" panose="020F0302020204030204" pitchFamily="34" charset="0"/>
              </a:rPr>
              <a:t>Tenderers</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who</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have</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capital</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or</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personal</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connections</a:t>
            </a:r>
            <a:r>
              <a:rPr lang="pl-PL" sz="2000" u="none" strike="noStrike" dirty="0">
                <a:solidFill>
                  <a:srgbClr val="000000"/>
                </a:solidFill>
                <a:effectLst/>
                <a:latin typeface="Calibri Light" panose="020F0302020204030204" pitchFamily="34" charset="0"/>
                <a:cs typeface="Calibri Light" panose="020F0302020204030204" pitchFamily="34" charset="0"/>
              </a:rPr>
              <a:t> with the </a:t>
            </a:r>
            <a:r>
              <a:rPr lang="pl-PL" sz="2000" u="none" strike="noStrike" dirty="0" err="1">
                <a:solidFill>
                  <a:srgbClr val="000000"/>
                </a:solidFill>
                <a:effectLst/>
                <a:latin typeface="Calibri Light" panose="020F0302020204030204" pitchFamily="34" charset="0"/>
                <a:cs typeface="Calibri Light" panose="020F0302020204030204" pitchFamily="34" charset="0"/>
              </a:rPr>
              <a:t>Ordering</a:t>
            </a:r>
            <a:r>
              <a:rPr lang="pl-PL" sz="2000" u="none" strike="noStrike" dirty="0">
                <a:solidFill>
                  <a:srgbClr val="000000"/>
                </a:solidFill>
                <a:effectLst/>
                <a:latin typeface="Calibri Light" panose="020F0302020204030204" pitchFamily="34" charset="0"/>
                <a:cs typeface="Calibri Light" panose="020F0302020204030204" pitchFamily="34" charset="0"/>
              </a:rPr>
              <a:t> Party </a:t>
            </a:r>
            <a:r>
              <a:rPr lang="pl-PL" sz="2000" u="none" strike="noStrike" dirty="0" err="1">
                <a:solidFill>
                  <a:srgbClr val="000000"/>
                </a:solidFill>
                <a:effectLst/>
                <a:latin typeface="Calibri Light" panose="020F0302020204030204" pitchFamily="34" charset="0"/>
                <a:cs typeface="Calibri Light" panose="020F0302020204030204" pitchFamily="34" charset="0"/>
              </a:rPr>
              <a:t>are</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r>
              <a:rPr lang="pl-PL" sz="2000" u="none" strike="noStrike" dirty="0" err="1">
                <a:solidFill>
                  <a:srgbClr val="000000"/>
                </a:solidFill>
                <a:effectLst/>
                <a:latin typeface="Calibri Light" panose="020F0302020204030204" pitchFamily="34" charset="0"/>
                <a:cs typeface="Calibri Light" panose="020F0302020204030204" pitchFamily="34" charset="0"/>
              </a:rPr>
              <a:t>excluded</a:t>
            </a:r>
            <a:r>
              <a:rPr lang="pl-PL" sz="2000" u="none" strike="noStrike" dirty="0">
                <a:solidFill>
                  <a:srgbClr val="000000"/>
                </a:solidFill>
                <a:effectLst/>
                <a:latin typeface="Calibri Light" panose="020F0302020204030204" pitchFamily="34" charset="0"/>
                <a:cs typeface="Calibri Light" panose="020F0302020204030204" pitchFamily="34" charset="0"/>
              </a:rPr>
              <a:t> from the </a:t>
            </a:r>
            <a:r>
              <a:rPr lang="pl-PL" sz="2000" u="none" strike="noStrike" dirty="0" err="1">
                <a:solidFill>
                  <a:srgbClr val="000000"/>
                </a:solidFill>
                <a:effectLst/>
                <a:latin typeface="Calibri Light" panose="020F0302020204030204" pitchFamily="34" charset="0"/>
                <a:cs typeface="Calibri Light" panose="020F0302020204030204" pitchFamily="34" charset="0"/>
              </a:rPr>
              <a:t>procedure</a:t>
            </a:r>
            <a:r>
              <a:rPr lang="pl-PL" sz="2000" u="none" strike="noStrike" dirty="0">
                <a:solidFill>
                  <a:srgbClr val="000000"/>
                </a:solidFill>
                <a:effectLst/>
                <a:latin typeface="Calibri Light" panose="020F0302020204030204" pitchFamily="34" charset="0"/>
                <a:cs typeface="Calibri Light" panose="020F0302020204030204" pitchFamily="34" charset="0"/>
              </a:rPr>
              <a:t>. </a:t>
            </a:r>
            <a:endParaRPr lang="pl-PL" sz="2000" dirty="0">
              <a:effectLst/>
              <a:latin typeface="Calibri Light" panose="020F0302020204030204" pitchFamily="34" charset="0"/>
              <a:cs typeface="Calibri Light" panose="020F0302020204030204" pitchFamily="34" charset="0"/>
            </a:endParaRPr>
          </a:p>
          <a:p>
            <a:pPr marL="0" indent="0">
              <a:buNone/>
            </a:pPr>
            <a:br>
              <a:rPr lang="pl-PL" sz="2000" dirty="0">
                <a:latin typeface="Calibri Light" panose="020F0302020204030204" pitchFamily="34" charset="0"/>
                <a:cs typeface="Calibri Light" panose="020F0302020204030204" pitchFamily="34" charset="0"/>
              </a:rPr>
            </a:br>
            <a:br>
              <a:rPr lang="pl-PL" sz="2000" dirty="0">
                <a:latin typeface="Calibri Light" panose="020F0302020204030204" pitchFamily="34" charset="0"/>
                <a:cs typeface="Calibri Light" panose="020F0302020204030204" pitchFamily="34" charset="0"/>
              </a:rPr>
            </a:br>
            <a:endParaRPr lang="pl-PL" sz="2000" dirty="0">
              <a:effectLst/>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622390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B6BE436-6864-6370-CAC2-0FBDE97F558A}"/>
              </a:ext>
            </a:extLst>
          </p:cNvPr>
          <p:cNvSpPr>
            <a:spLocks noGrp="1"/>
          </p:cNvSpPr>
          <p:nvPr>
            <p:ph type="title"/>
          </p:nvPr>
        </p:nvSpPr>
        <p:spPr/>
        <p:txBody>
          <a:bodyPr/>
          <a:lstStyle/>
          <a:p>
            <a:r>
              <a:rPr lang="pl-PL" dirty="0"/>
              <a:t>Evaluation </a:t>
            </a:r>
            <a:r>
              <a:rPr lang="pl-PL" dirty="0" err="1"/>
              <a:t>criteria</a:t>
            </a:r>
            <a:r>
              <a:rPr lang="pl-PL" dirty="0"/>
              <a:t>  </a:t>
            </a:r>
          </a:p>
        </p:txBody>
      </p:sp>
      <p:graphicFrame>
        <p:nvGraphicFramePr>
          <p:cNvPr id="4" name="Symbol zastępczy zawartości 3">
            <a:extLst>
              <a:ext uri="{FF2B5EF4-FFF2-40B4-BE49-F238E27FC236}">
                <a16:creationId xmlns:a16="http://schemas.microsoft.com/office/drawing/2014/main" id="{4D031D3E-F4BE-900D-FB0B-9E65C81545B8}"/>
              </a:ext>
            </a:extLst>
          </p:cNvPr>
          <p:cNvGraphicFramePr>
            <a:graphicFrameLocks noGrp="1"/>
          </p:cNvGraphicFramePr>
          <p:nvPr>
            <p:ph idx="1"/>
          </p:nvPr>
        </p:nvGraphicFramePr>
        <p:xfrm>
          <a:off x="1442357" y="2210082"/>
          <a:ext cx="9307286" cy="3044814"/>
        </p:xfrm>
        <a:graphic>
          <a:graphicData uri="http://schemas.openxmlformats.org/drawingml/2006/table">
            <a:tbl>
              <a:tblPr/>
              <a:tblGrid>
                <a:gridCol w="8214809">
                  <a:extLst>
                    <a:ext uri="{9D8B030D-6E8A-4147-A177-3AD203B41FA5}">
                      <a16:colId xmlns:a16="http://schemas.microsoft.com/office/drawing/2014/main" val="2710281802"/>
                    </a:ext>
                  </a:extLst>
                </a:gridCol>
                <a:gridCol w="1092477">
                  <a:extLst>
                    <a:ext uri="{9D8B030D-6E8A-4147-A177-3AD203B41FA5}">
                      <a16:colId xmlns:a16="http://schemas.microsoft.com/office/drawing/2014/main" val="3668450620"/>
                    </a:ext>
                  </a:extLst>
                </a:gridCol>
              </a:tblGrid>
              <a:tr h="0">
                <a:tc>
                  <a:txBody>
                    <a:bodyPr/>
                    <a:lstStyle/>
                    <a:p>
                      <a:pPr rtl="0" fontAlgn="t">
                        <a:spcBef>
                          <a:spcPts val="0"/>
                        </a:spcBef>
                        <a:spcAft>
                          <a:spcPts val="0"/>
                        </a:spcAft>
                      </a:pPr>
                      <a:r>
                        <a:rPr lang="pl-PL" sz="1800" b="0" i="0" u="none" strike="noStrike" dirty="0" err="1">
                          <a:solidFill>
                            <a:srgbClr val="000000"/>
                          </a:solidFill>
                          <a:effectLst/>
                          <a:latin typeface="Calibri Light" panose="020F0302020204030204" pitchFamily="34" charset="0"/>
                          <a:cs typeface="Calibri Light" panose="020F0302020204030204" pitchFamily="34" charset="0"/>
                        </a:rPr>
                        <a:t>Criteria</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pl-PL" sz="1800" b="0" i="0" u="none" strike="noStrike" dirty="0" err="1">
                          <a:solidFill>
                            <a:srgbClr val="000000"/>
                          </a:solidFill>
                          <a:effectLst/>
                          <a:latin typeface="Calibri Light" panose="020F0302020204030204" pitchFamily="34" charset="0"/>
                          <a:cs typeface="Calibri Light" panose="020F0302020204030204" pitchFamily="34" charset="0"/>
                        </a:rPr>
                        <a:t>Weigth</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2706063"/>
                  </a:ext>
                </a:extLst>
              </a:tr>
              <a:tr h="433498">
                <a:tc>
                  <a:txBody>
                    <a:bodyPr/>
                    <a:lstStyle/>
                    <a:p>
                      <a:pPr algn="just" rtl="0" fontAlgn="t">
                        <a:spcBef>
                          <a:spcPts val="47"/>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CRITERION I: order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price</a:t>
                      </a:r>
                      <a:r>
                        <a:rPr lang="pl-PL" sz="1800" b="0" i="0" u="none" strike="noStrike" dirty="0">
                          <a:solidFill>
                            <a:srgbClr val="000000"/>
                          </a:solidFill>
                          <a:effectLst/>
                          <a:latin typeface="Calibri Light" panose="020F0302020204030204" pitchFamily="34" charset="0"/>
                          <a:cs typeface="Calibri Light" panose="020F0302020204030204" pitchFamily="34" charset="0"/>
                        </a:rPr>
                        <a:t> </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50%</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4440024"/>
                  </a:ext>
                </a:extLst>
              </a:tr>
              <a:tr h="445059">
                <a:tc>
                  <a:txBody>
                    <a:bodyPr/>
                    <a:lstStyle/>
                    <a:p>
                      <a:pPr algn="just" rtl="0" fontAlgn="t">
                        <a:spcBef>
                          <a:spcPts val="47"/>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CRITERION II: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experience</a:t>
                      </a:r>
                      <a:r>
                        <a:rPr lang="pl-PL" sz="1800" b="0" i="0" u="none" strike="noStrike" dirty="0">
                          <a:solidFill>
                            <a:srgbClr val="000000"/>
                          </a:solidFill>
                          <a:effectLst/>
                          <a:latin typeface="Calibri Light" panose="020F0302020204030204" pitchFamily="34" charset="0"/>
                          <a:cs typeface="Calibri Light" panose="020F0302020204030204" pitchFamily="34" charset="0"/>
                        </a:rPr>
                        <a:t> of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individuals</a:t>
                      </a:r>
                      <a:r>
                        <a:rPr lang="pl-PL" sz="1800" b="0" i="0" u="none" strike="noStrike" dirty="0">
                          <a:solidFill>
                            <a:srgbClr val="000000"/>
                          </a:solidFill>
                          <a:effectLst/>
                          <a:latin typeface="Calibri Light" panose="020F0302020204030204" pitchFamily="34" charset="0"/>
                          <a:cs typeface="Calibri Light" panose="020F0302020204030204" pitchFamily="34" charset="0"/>
                        </a:rPr>
                        <a:t>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designated</a:t>
                      </a:r>
                      <a:r>
                        <a:rPr lang="pl-PL" sz="1800" b="0" i="0" u="none" strike="noStrike" dirty="0">
                          <a:solidFill>
                            <a:srgbClr val="000000"/>
                          </a:solidFill>
                          <a:effectLst/>
                          <a:latin typeface="Calibri Light" panose="020F0302020204030204" pitchFamily="34" charset="0"/>
                          <a:cs typeface="Calibri Light" panose="020F0302020204030204" pitchFamily="34" charset="0"/>
                        </a:rPr>
                        <a:t> to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carry</a:t>
                      </a:r>
                      <a:r>
                        <a:rPr lang="pl-PL" sz="1800" b="0" i="0" u="none" strike="noStrike" dirty="0">
                          <a:solidFill>
                            <a:srgbClr val="000000"/>
                          </a:solidFill>
                          <a:effectLst/>
                          <a:latin typeface="Calibri Light" panose="020F0302020204030204" pitchFamily="34" charset="0"/>
                          <a:cs typeface="Calibri Light" panose="020F0302020204030204" pitchFamily="34" charset="0"/>
                        </a:rPr>
                        <a:t> out the order</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20%</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1669549"/>
                  </a:ext>
                </a:extLst>
              </a:tr>
              <a:tr h="457200">
                <a:tc>
                  <a:txBody>
                    <a:bodyPr/>
                    <a:lstStyle/>
                    <a:p>
                      <a:pPr algn="just" rtl="0" fontAlgn="t">
                        <a:spcBef>
                          <a:spcPts val="47"/>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CRITERION III: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access</a:t>
                      </a:r>
                      <a:r>
                        <a:rPr lang="pl-PL" sz="1800" b="0" i="0" u="none" strike="noStrike" dirty="0">
                          <a:solidFill>
                            <a:srgbClr val="000000"/>
                          </a:solidFill>
                          <a:effectLst/>
                          <a:latin typeface="Calibri Light" panose="020F0302020204030204" pitchFamily="34" charset="0"/>
                          <a:cs typeface="Calibri Light" panose="020F0302020204030204" pitchFamily="34" charset="0"/>
                        </a:rPr>
                        <a:t> to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panels</a:t>
                      </a:r>
                      <a:r>
                        <a:rPr lang="pl-PL" sz="1800" b="0" i="0" u="none" strike="noStrike" dirty="0">
                          <a:solidFill>
                            <a:srgbClr val="000000"/>
                          </a:solidFill>
                          <a:effectLst/>
                          <a:latin typeface="Calibri Light" panose="020F0302020204030204" pitchFamily="34" charset="0"/>
                          <a:cs typeface="Calibri Light" panose="020F0302020204030204" pitchFamily="34" charset="0"/>
                        </a:rPr>
                        <a:t> in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excess</a:t>
                      </a:r>
                      <a:r>
                        <a:rPr lang="pl-PL" sz="1800" b="0" i="0" u="none" strike="noStrike" dirty="0">
                          <a:solidFill>
                            <a:srgbClr val="000000"/>
                          </a:solidFill>
                          <a:effectLst/>
                          <a:latin typeface="Calibri Light" panose="020F0302020204030204" pitchFamily="34" charset="0"/>
                          <a:cs typeface="Calibri Light" panose="020F0302020204030204" pitchFamily="34" charset="0"/>
                        </a:rPr>
                        <a:t> of ≥ 10,000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individuals</a:t>
                      </a:r>
                      <a:r>
                        <a:rPr lang="pl-PL" sz="1800" b="0" i="0" u="none" strike="noStrike" dirty="0">
                          <a:solidFill>
                            <a:srgbClr val="000000"/>
                          </a:solidFill>
                          <a:effectLst/>
                          <a:latin typeface="Calibri Light" panose="020F0302020204030204" pitchFamily="34" charset="0"/>
                          <a:cs typeface="Calibri Light" panose="020F0302020204030204" pitchFamily="34" charset="0"/>
                        </a:rPr>
                        <a:t> in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each</a:t>
                      </a:r>
                      <a:r>
                        <a:rPr lang="pl-PL" sz="1800" b="0" i="0" u="none" strike="noStrike" dirty="0">
                          <a:solidFill>
                            <a:srgbClr val="000000"/>
                          </a:solidFill>
                          <a:effectLst/>
                          <a:latin typeface="Calibri Light" panose="020F0302020204030204" pitchFamily="34" charset="0"/>
                          <a:cs typeface="Calibri Light" panose="020F0302020204030204" pitchFamily="34" charset="0"/>
                        </a:rPr>
                        <a:t> of the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countries</a:t>
                      </a:r>
                      <a:r>
                        <a:rPr lang="pl-PL" sz="1800" b="0" i="0" u="none" strike="noStrike" dirty="0">
                          <a:solidFill>
                            <a:srgbClr val="000000"/>
                          </a:solidFill>
                          <a:effectLst/>
                          <a:latin typeface="Calibri Light" panose="020F0302020204030204" pitchFamily="34" charset="0"/>
                          <a:cs typeface="Calibri Light" panose="020F0302020204030204" pitchFamily="34" charset="0"/>
                        </a:rPr>
                        <a:t> of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study</a:t>
                      </a:r>
                      <a:r>
                        <a:rPr lang="pl-PL" sz="1800" b="0" i="0" u="none" strike="noStrike" dirty="0">
                          <a:solidFill>
                            <a:srgbClr val="000000"/>
                          </a:solidFill>
                          <a:effectLst/>
                          <a:latin typeface="Calibri Light" panose="020F0302020204030204" pitchFamily="34" charset="0"/>
                          <a:cs typeface="Calibri Light" panose="020F0302020204030204" pitchFamily="34" charset="0"/>
                        </a:rPr>
                        <a:t>. </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21%</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1767547"/>
                  </a:ext>
                </a:extLst>
              </a:tr>
              <a:tr h="413657">
                <a:tc>
                  <a:txBody>
                    <a:bodyPr/>
                    <a:lstStyle/>
                    <a:p>
                      <a:pPr algn="just" rtl="0" fontAlgn="t">
                        <a:spcBef>
                          <a:spcPts val="0"/>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CRITERION IV: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access</a:t>
                      </a:r>
                      <a:r>
                        <a:rPr lang="pl-PL" sz="1800" b="0" i="0" u="none" strike="noStrike" dirty="0">
                          <a:solidFill>
                            <a:srgbClr val="000000"/>
                          </a:solidFill>
                          <a:effectLst/>
                          <a:latin typeface="Calibri Light" panose="020F0302020204030204" pitchFamily="34" charset="0"/>
                          <a:cs typeface="Calibri Light" panose="020F0302020204030204" pitchFamily="34" charset="0"/>
                        </a:rPr>
                        <a:t> to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survey</a:t>
                      </a:r>
                      <a:r>
                        <a:rPr lang="pl-PL" sz="1800" b="0" i="0" u="none" strike="noStrike" dirty="0">
                          <a:solidFill>
                            <a:srgbClr val="000000"/>
                          </a:solidFill>
                          <a:effectLst/>
                          <a:latin typeface="Calibri Light" panose="020F0302020204030204" pitchFamily="34" charset="0"/>
                          <a:cs typeface="Calibri Light" panose="020F0302020204030204" pitchFamily="34" charset="0"/>
                        </a:rPr>
                        <a:t> networks in Poland, Czech Republic and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Hungary</a:t>
                      </a:r>
                      <a:r>
                        <a:rPr lang="pl-PL" sz="1800" b="0" i="0" u="none" strike="noStrike" dirty="0">
                          <a:solidFill>
                            <a:srgbClr val="000000"/>
                          </a:solidFill>
                          <a:effectLst/>
                          <a:latin typeface="Calibri Light" panose="020F0302020204030204" pitchFamily="34" charset="0"/>
                          <a:cs typeface="Calibri Light" panose="020F0302020204030204" pitchFamily="34" charset="0"/>
                        </a:rPr>
                        <a:t>  </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9%</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6305302"/>
                  </a:ext>
                </a:extLst>
              </a:tr>
              <a:tr h="433498">
                <a:tc>
                  <a:txBody>
                    <a:bodyPr/>
                    <a:lstStyle/>
                    <a:p>
                      <a:pPr algn="just" rtl="0" fontAlgn="t">
                        <a:spcBef>
                          <a:spcPts val="0"/>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TOTAL</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pl-PL" sz="1800" b="0" i="0" u="none" strike="noStrike" dirty="0">
                          <a:solidFill>
                            <a:srgbClr val="000000"/>
                          </a:solidFill>
                          <a:effectLst/>
                          <a:latin typeface="Calibri Light" panose="020F0302020204030204" pitchFamily="34" charset="0"/>
                          <a:cs typeface="Calibri Light" panose="020F0302020204030204" pitchFamily="34" charset="0"/>
                        </a:rPr>
                        <a:t>100 </a:t>
                      </a:r>
                      <a:r>
                        <a:rPr lang="pl-PL" sz="1800" b="0" i="0" u="none" strike="noStrike" dirty="0" err="1">
                          <a:solidFill>
                            <a:srgbClr val="000000"/>
                          </a:solidFill>
                          <a:effectLst/>
                          <a:latin typeface="Calibri Light" panose="020F0302020204030204" pitchFamily="34" charset="0"/>
                          <a:cs typeface="Calibri Light" panose="020F0302020204030204" pitchFamily="34" charset="0"/>
                        </a:rPr>
                        <a:t>points</a:t>
                      </a:r>
                      <a:r>
                        <a:rPr lang="pl-PL" sz="1800" b="0" i="0" u="none" strike="noStrike" dirty="0">
                          <a:solidFill>
                            <a:srgbClr val="000000"/>
                          </a:solidFill>
                          <a:effectLst/>
                          <a:latin typeface="Calibri Light" panose="020F0302020204030204" pitchFamily="34" charset="0"/>
                          <a:cs typeface="Calibri Light" panose="020F0302020204030204" pitchFamily="34" charset="0"/>
                        </a:rPr>
                        <a:t> </a:t>
                      </a:r>
                      <a:endParaRPr lang="pl-PL" sz="1800" b="0" i="0" dirty="0">
                        <a:effectLst/>
                        <a:latin typeface="Calibri Light" panose="020F0302020204030204" pitchFamily="34" charset="0"/>
                        <a:cs typeface="Calibri Light" panose="020F03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2192325"/>
                  </a:ext>
                </a:extLst>
              </a:tr>
            </a:tbl>
          </a:graphicData>
        </a:graphic>
      </p:graphicFrame>
      <p:sp>
        <p:nvSpPr>
          <p:cNvPr id="5" name="Rectangle 1">
            <a:extLst>
              <a:ext uri="{FF2B5EF4-FFF2-40B4-BE49-F238E27FC236}">
                <a16:creationId xmlns:a16="http://schemas.microsoft.com/office/drawing/2014/main" id="{AB2D8A70-1B15-AC66-0972-2DE2AF13683E}"/>
              </a:ext>
            </a:extLst>
          </p:cNvPr>
          <p:cNvSpPr>
            <a:spLocks noChangeArrowheads="1"/>
          </p:cNvSpPr>
          <p:nvPr/>
        </p:nvSpPr>
        <p:spPr bwMode="auto">
          <a:xfrm>
            <a:off x="-2340429" y="-97971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Tree>
    <p:extLst>
      <p:ext uri="{BB962C8B-B14F-4D97-AF65-F5344CB8AC3E}">
        <p14:creationId xmlns:p14="http://schemas.microsoft.com/office/powerpoint/2010/main" val="425302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42F8F-5D22-4DFD-AA8A-543FD5835D23}"/>
              </a:ext>
            </a:extLst>
          </p:cNvPr>
          <p:cNvSpPr>
            <a:spLocks noGrp="1"/>
          </p:cNvSpPr>
          <p:nvPr>
            <p:ph type="title"/>
          </p:nvPr>
        </p:nvSpPr>
        <p:spPr>
          <a:xfrm>
            <a:off x="838200" y="365125"/>
            <a:ext cx="10515600" cy="732155"/>
          </a:xfrm>
        </p:spPr>
        <p:txBody>
          <a:bodyPr>
            <a:normAutofit fontScale="90000"/>
          </a:bodyPr>
          <a:lstStyle/>
          <a:p>
            <a:br>
              <a:rPr lang="en-US" sz="2800" b="1" dirty="0">
                <a:latin typeface="Corbel" panose="020B0503020204020204" pitchFamily="34" charset="0"/>
                <a:ea typeface="Corbel" panose="020B0503020204020204" pitchFamily="34" charset="0"/>
                <a:cs typeface="Corbel" panose="020B0503020204020204" pitchFamily="34" charset="0"/>
              </a:rPr>
            </a:br>
            <a:r>
              <a:rPr lang="en-US" sz="2800" b="1" dirty="0">
                <a:latin typeface="Corbel" panose="020B0503020204020204" pitchFamily="34" charset="0"/>
                <a:ea typeface="Corbel" panose="020B0503020204020204" pitchFamily="34" charset="0"/>
                <a:cs typeface="Corbel" panose="020B0503020204020204" pitchFamily="34" charset="0"/>
              </a:rPr>
              <a:t>WP4: STEPS AHEAD</a:t>
            </a:r>
            <a:br>
              <a:rPr lang="en-US" sz="2800" b="1" dirty="0">
                <a:latin typeface="Corbel" panose="020B0503020204020204" pitchFamily="34" charset="0"/>
                <a:ea typeface="Corbel" panose="020B0503020204020204" pitchFamily="34" charset="0"/>
                <a:cs typeface="Corbel" panose="020B0503020204020204" pitchFamily="34" charset="0"/>
              </a:rPr>
            </a:br>
            <a:endParaRPr lang="pl-PL" sz="2800" b="1" dirty="0"/>
          </a:p>
        </p:txBody>
      </p:sp>
      <p:sp>
        <p:nvSpPr>
          <p:cNvPr id="3" name="Symbol zastępczy zawartości 2">
            <a:extLst>
              <a:ext uri="{FF2B5EF4-FFF2-40B4-BE49-F238E27FC236}">
                <a16:creationId xmlns:a16="http://schemas.microsoft.com/office/drawing/2014/main" id="{9EA8FB84-B471-41D7-A50A-03633E343E89}"/>
              </a:ext>
            </a:extLst>
          </p:cNvPr>
          <p:cNvSpPr>
            <a:spLocks noGrp="1"/>
          </p:cNvSpPr>
          <p:nvPr>
            <p:ph idx="1"/>
          </p:nvPr>
        </p:nvSpPr>
        <p:spPr>
          <a:xfrm>
            <a:off x="411480" y="1426028"/>
            <a:ext cx="11567160" cy="5431971"/>
          </a:xfrm>
        </p:spPr>
        <p:txBody>
          <a:bodyPr>
            <a:normAutofit/>
          </a:bodyPr>
          <a:lstStyle/>
          <a:p>
            <a:r>
              <a:rPr lang="en-GB" dirty="0"/>
              <a:t>Finalising the design of the AUTHLIB Survey Questionnaire (March 2024)</a:t>
            </a:r>
          </a:p>
          <a:p>
            <a:r>
              <a:rPr lang="en-GB" dirty="0"/>
              <a:t>Finalising the design of the AUTHLIB Survey Conjoint Experiment Module (April 2024)</a:t>
            </a:r>
          </a:p>
          <a:p>
            <a:r>
              <a:rPr lang="en-GB" dirty="0"/>
              <a:t>Translating AUTHLIB Survey into local languages (April-May 2024)</a:t>
            </a:r>
          </a:p>
          <a:p>
            <a:r>
              <a:rPr lang="en-GB" dirty="0"/>
              <a:t>Finalising the tender process: selection of the subcontractor (April-May 2024)</a:t>
            </a:r>
          </a:p>
          <a:p>
            <a:r>
              <a:rPr lang="en-GB" dirty="0"/>
              <a:t>Collaboration in survey programming and pre-testing (May-June 2024)</a:t>
            </a:r>
          </a:p>
          <a:p>
            <a:r>
              <a:rPr lang="en-GB" dirty="0"/>
              <a:t>Quality assurance in sampling, fieldwork and data (June 2024)</a:t>
            </a:r>
          </a:p>
          <a:p>
            <a:r>
              <a:rPr lang="en-GB" dirty="0"/>
              <a:t>Finalisation of the dataset and handing-in of the deliverables of WP4 (June-October 2024)</a:t>
            </a:r>
          </a:p>
        </p:txBody>
      </p:sp>
    </p:spTree>
    <p:extLst>
      <p:ext uri="{BB962C8B-B14F-4D97-AF65-F5344CB8AC3E}">
        <p14:creationId xmlns:p14="http://schemas.microsoft.com/office/powerpoint/2010/main" val="4067596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83F5E-7CDF-0476-F440-38BF7E10034A}"/>
              </a:ext>
            </a:extLst>
          </p:cNvPr>
          <p:cNvSpPr>
            <a:spLocks noGrp="1"/>
          </p:cNvSpPr>
          <p:nvPr>
            <p:ph type="title"/>
          </p:nvPr>
        </p:nvSpPr>
        <p:spPr/>
        <p:txBody>
          <a:bodyPr/>
          <a:lstStyle/>
          <a:p>
            <a:r>
              <a:rPr lang="en-PL" dirty="0"/>
              <a:t>Conjoint Experiment Module</a:t>
            </a:r>
          </a:p>
        </p:txBody>
      </p:sp>
      <p:sp>
        <p:nvSpPr>
          <p:cNvPr id="3" name="Content Placeholder 2">
            <a:extLst>
              <a:ext uri="{FF2B5EF4-FFF2-40B4-BE49-F238E27FC236}">
                <a16:creationId xmlns:a16="http://schemas.microsoft.com/office/drawing/2014/main" id="{C739EDAB-4DD8-5B7B-6D93-7511575D4A1D}"/>
              </a:ext>
            </a:extLst>
          </p:cNvPr>
          <p:cNvSpPr>
            <a:spLocks noGrp="1"/>
          </p:cNvSpPr>
          <p:nvPr>
            <p:ph idx="1"/>
          </p:nvPr>
        </p:nvSpPr>
        <p:spPr/>
        <p:txBody>
          <a:bodyPr>
            <a:normAutofit/>
          </a:bodyPr>
          <a:lstStyle/>
          <a:p>
            <a:r>
              <a:rPr lang="en-PL" dirty="0"/>
              <a:t>Following several meetings of the AUTHLIB survey questionnaire team between September 2023 and February 2024, and meetings during the same time frame of a smaller group with experience of fielding conjoint experiments, the key structure and logic of the conjoint experiment was agreed upon.</a:t>
            </a:r>
          </a:p>
          <a:p>
            <a:r>
              <a:rPr lang="en-PL" dirty="0"/>
              <a:t>Extensive discussion was necessary in order to identify the correct balance between the research needs of the project, budgetary limitations, and statistical power required for meaningful results.</a:t>
            </a:r>
          </a:p>
          <a:p>
            <a:r>
              <a:rPr lang="en-PL" dirty="0"/>
              <a:t>Drawing on prior experience of fielding similar experiments, the conjoint experiment module will last an estimated 7 minutes.</a:t>
            </a:r>
          </a:p>
        </p:txBody>
      </p:sp>
    </p:spTree>
    <p:extLst>
      <p:ext uri="{BB962C8B-B14F-4D97-AF65-F5344CB8AC3E}">
        <p14:creationId xmlns:p14="http://schemas.microsoft.com/office/powerpoint/2010/main" val="571625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83F5E-7CDF-0476-F440-38BF7E10034A}"/>
              </a:ext>
            </a:extLst>
          </p:cNvPr>
          <p:cNvSpPr>
            <a:spLocks noGrp="1"/>
          </p:cNvSpPr>
          <p:nvPr>
            <p:ph type="title"/>
          </p:nvPr>
        </p:nvSpPr>
        <p:spPr/>
        <p:txBody>
          <a:bodyPr/>
          <a:lstStyle/>
          <a:p>
            <a:r>
              <a:rPr lang="en-PL"/>
              <a:t>Conjoint Experiment Module</a:t>
            </a:r>
            <a:endParaRPr lang="en-PL" dirty="0"/>
          </a:p>
        </p:txBody>
      </p:sp>
      <p:sp>
        <p:nvSpPr>
          <p:cNvPr id="3" name="Content Placeholder 2">
            <a:extLst>
              <a:ext uri="{FF2B5EF4-FFF2-40B4-BE49-F238E27FC236}">
                <a16:creationId xmlns:a16="http://schemas.microsoft.com/office/drawing/2014/main" id="{C739EDAB-4DD8-5B7B-6D93-7511575D4A1D}"/>
              </a:ext>
            </a:extLst>
          </p:cNvPr>
          <p:cNvSpPr>
            <a:spLocks noGrp="1"/>
          </p:cNvSpPr>
          <p:nvPr>
            <p:ph idx="1"/>
          </p:nvPr>
        </p:nvSpPr>
        <p:spPr/>
        <p:txBody>
          <a:bodyPr>
            <a:normAutofit/>
          </a:bodyPr>
          <a:lstStyle/>
          <a:p>
            <a:r>
              <a:rPr lang="en-PL" dirty="0"/>
              <a:t>The essential logic of the conjoint experiment is as follows.</a:t>
            </a:r>
          </a:p>
          <a:p>
            <a:r>
              <a:rPr lang="en-PL" dirty="0"/>
              <a:t>Respondents will be asked to choose between two parties making campaign promises, both of whom are presented as credible potential parties of government.</a:t>
            </a:r>
          </a:p>
          <a:p>
            <a:r>
              <a:rPr lang="en-PL" dirty="0"/>
              <a:t>Each of the parties will be associated with a left-wing, centrist or right-wing economic policy promise, a left-wing, centrist or right-wing cultural policy promise, and a position on the delivery of promises that corresponds to one of the three key concepts of populism, authoritarianism and illiberalism, with liberal approaches to policy delivery as an additional control.</a:t>
            </a:r>
          </a:p>
        </p:txBody>
      </p:sp>
      <p:sp>
        <p:nvSpPr>
          <p:cNvPr id="5" name="Rectangle 1">
            <a:extLst>
              <a:ext uri="{FF2B5EF4-FFF2-40B4-BE49-F238E27FC236}">
                <a16:creationId xmlns:a16="http://schemas.microsoft.com/office/drawing/2014/main" id="{3ECF4563-52CE-6DE2-16A5-74F80428D8BA}"/>
              </a:ext>
            </a:extLst>
          </p:cNvPr>
          <p:cNvSpPr>
            <a:spLocks noChangeArrowheads="1"/>
          </p:cNvSpPr>
          <p:nvPr/>
        </p:nvSpPr>
        <p:spPr bwMode="auto">
          <a:xfrm>
            <a:off x="3233738" y="32702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L"/>
          </a:p>
        </p:txBody>
      </p:sp>
    </p:spTree>
    <p:extLst>
      <p:ext uri="{BB962C8B-B14F-4D97-AF65-F5344CB8AC3E}">
        <p14:creationId xmlns:p14="http://schemas.microsoft.com/office/powerpoint/2010/main" val="327638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83F5E-7CDF-0476-F440-38BF7E10034A}"/>
              </a:ext>
            </a:extLst>
          </p:cNvPr>
          <p:cNvSpPr>
            <a:spLocks noGrp="1"/>
          </p:cNvSpPr>
          <p:nvPr>
            <p:ph type="title"/>
          </p:nvPr>
        </p:nvSpPr>
        <p:spPr/>
        <p:txBody>
          <a:bodyPr/>
          <a:lstStyle/>
          <a:p>
            <a:r>
              <a:rPr lang="en-PL"/>
              <a:t>Conjoint Experiment Module</a:t>
            </a:r>
            <a:endParaRPr lang="en-PL" dirty="0"/>
          </a:p>
        </p:txBody>
      </p:sp>
      <p:sp>
        <p:nvSpPr>
          <p:cNvPr id="5" name="Rectangle 1">
            <a:extLst>
              <a:ext uri="{FF2B5EF4-FFF2-40B4-BE49-F238E27FC236}">
                <a16:creationId xmlns:a16="http://schemas.microsoft.com/office/drawing/2014/main" id="{3ECF4563-52CE-6DE2-16A5-74F80428D8BA}"/>
              </a:ext>
            </a:extLst>
          </p:cNvPr>
          <p:cNvSpPr>
            <a:spLocks noChangeArrowheads="1"/>
          </p:cNvSpPr>
          <p:nvPr/>
        </p:nvSpPr>
        <p:spPr bwMode="auto">
          <a:xfrm>
            <a:off x="3233738" y="32702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L"/>
          </a:p>
        </p:txBody>
      </p:sp>
      <p:graphicFrame>
        <p:nvGraphicFramePr>
          <p:cNvPr id="7" name="Table 6">
            <a:extLst>
              <a:ext uri="{FF2B5EF4-FFF2-40B4-BE49-F238E27FC236}">
                <a16:creationId xmlns:a16="http://schemas.microsoft.com/office/drawing/2014/main" id="{D65AD90F-3711-A51A-70C6-3840A42F37D1}"/>
              </a:ext>
            </a:extLst>
          </p:cNvPr>
          <p:cNvGraphicFramePr>
            <a:graphicFrameLocks noGrp="1"/>
          </p:cNvGraphicFramePr>
          <p:nvPr>
            <p:extLst>
              <p:ext uri="{D42A27DB-BD31-4B8C-83A1-F6EECF244321}">
                <p14:modId xmlns:p14="http://schemas.microsoft.com/office/powerpoint/2010/main" val="293660789"/>
              </p:ext>
            </p:extLst>
          </p:nvPr>
        </p:nvGraphicFramePr>
        <p:xfrm>
          <a:off x="1060380" y="1690688"/>
          <a:ext cx="10293420" cy="4696860"/>
        </p:xfrm>
        <a:graphic>
          <a:graphicData uri="http://schemas.openxmlformats.org/drawingml/2006/table">
            <a:tbl>
              <a:tblPr/>
              <a:tblGrid>
                <a:gridCol w="1901114">
                  <a:extLst>
                    <a:ext uri="{9D8B030D-6E8A-4147-A177-3AD203B41FA5}">
                      <a16:colId xmlns:a16="http://schemas.microsoft.com/office/drawing/2014/main" val="2004406302"/>
                    </a:ext>
                  </a:extLst>
                </a:gridCol>
                <a:gridCol w="2175149">
                  <a:extLst>
                    <a:ext uri="{9D8B030D-6E8A-4147-A177-3AD203B41FA5}">
                      <a16:colId xmlns:a16="http://schemas.microsoft.com/office/drawing/2014/main" val="2978218151"/>
                    </a:ext>
                  </a:extLst>
                </a:gridCol>
                <a:gridCol w="2038131">
                  <a:extLst>
                    <a:ext uri="{9D8B030D-6E8A-4147-A177-3AD203B41FA5}">
                      <a16:colId xmlns:a16="http://schemas.microsoft.com/office/drawing/2014/main" val="137002298"/>
                    </a:ext>
                  </a:extLst>
                </a:gridCol>
                <a:gridCol w="2089513">
                  <a:extLst>
                    <a:ext uri="{9D8B030D-6E8A-4147-A177-3AD203B41FA5}">
                      <a16:colId xmlns:a16="http://schemas.microsoft.com/office/drawing/2014/main" val="935912186"/>
                    </a:ext>
                  </a:extLst>
                </a:gridCol>
                <a:gridCol w="2089513">
                  <a:extLst>
                    <a:ext uri="{9D8B030D-6E8A-4147-A177-3AD203B41FA5}">
                      <a16:colId xmlns:a16="http://schemas.microsoft.com/office/drawing/2014/main" val="3296001758"/>
                    </a:ext>
                  </a:extLst>
                </a:gridCol>
              </a:tblGrid>
              <a:tr h="1565620">
                <a:tc>
                  <a:txBody>
                    <a:bodyPr/>
                    <a:lstStyle/>
                    <a:p>
                      <a:pPr marL="88900" marR="88900" rtl="0" fontAlgn="t">
                        <a:spcBef>
                          <a:spcPts val="0"/>
                        </a:spcBef>
                        <a:spcAft>
                          <a:spcPts val="0"/>
                        </a:spcAft>
                      </a:pPr>
                      <a:r>
                        <a:rPr lang="en-GB" sz="2400" b="1" i="0" u="none" strike="noStrike" dirty="0">
                          <a:solidFill>
                            <a:srgbClr val="000000"/>
                          </a:solidFill>
                          <a:effectLst/>
                          <a:latin typeface="Times New Roman" panose="02020603050405020304" pitchFamily="18" charset="0"/>
                        </a:rPr>
                        <a:t>Economic policy</a:t>
                      </a:r>
                      <a:endParaRPr lang="en-GB" sz="2400" dirty="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a:solidFill>
                            <a:srgbClr val="000000"/>
                          </a:solidFill>
                          <a:effectLst/>
                          <a:latin typeface="Times New Roman" panose="02020603050405020304" pitchFamily="18" charset="0"/>
                        </a:rPr>
                        <a:t>Left wing</a:t>
                      </a:r>
                      <a:endParaRPr lang="en-GB" sz="240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dirty="0">
                          <a:solidFill>
                            <a:srgbClr val="000000"/>
                          </a:solidFill>
                          <a:effectLst/>
                          <a:latin typeface="Times New Roman" panose="02020603050405020304" pitchFamily="18" charset="0"/>
                        </a:rPr>
                        <a:t>Centrist</a:t>
                      </a:r>
                      <a:endParaRPr lang="en-GB" sz="2400" dirty="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a:solidFill>
                            <a:srgbClr val="000000"/>
                          </a:solidFill>
                          <a:effectLst/>
                          <a:latin typeface="Times New Roman" panose="02020603050405020304" pitchFamily="18" charset="0"/>
                        </a:rPr>
                        <a:t>Right wing</a:t>
                      </a:r>
                      <a:endParaRPr lang="en-GB" sz="240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PL" sz="2400" b="0" i="0" u="none" strike="noStrike">
                          <a:solidFill>
                            <a:srgbClr val="000000"/>
                          </a:solidFill>
                          <a:effectLst/>
                          <a:latin typeface="Times New Roman" panose="02020603050405020304" pitchFamily="18" charset="0"/>
                        </a:rPr>
                        <a:t> </a:t>
                      </a:r>
                      <a:endParaRPr lang="en-PL" sz="240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9466003"/>
                  </a:ext>
                </a:extLst>
              </a:tr>
              <a:tr h="1565620">
                <a:tc>
                  <a:txBody>
                    <a:bodyPr/>
                    <a:lstStyle/>
                    <a:p>
                      <a:pPr marL="88900" marR="88900" rtl="0" fontAlgn="t">
                        <a:spcBef>
                          <a:spcPts val="0"/>
                        </a:spcBef>
                        <a:spcAft>
                          <a:spcPts val="0"/>
                        </a:spcAft>
                      </a:pPr>
                      <a:r>
                        <a:rPr lang="en-GB" sz="2400" b="1" i="0" u="none" strike="noStrike">
                          <a:solidFill>
                            <a:srgbClr val="000000"/>
                          </a:solidFill>
                          <a:effectLst/>
                          <a:latin typeface="Times New Roman" panose="02020603050405020304" pitchFamily="18" charset="0"/>
                        </a:rPr>
                        <a:t>Cultural policy</a:t>
                      </a:r>
                      <a:endParaRPr lang="en-GB" sz="240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a:solidFill>
                            <a:srgbClr val="000000"/>
                          </a:solidFill>
                          <a:effectLst/>
                          <a:latin typeface="Times New Roman" panose="02020603050405020304" pitchFamily="18" charset="0"/>
                        </a:rPr>
                        <a:t>Left wing</a:t>
                      </a:r>
                      <a:endParaRPr lang="en-GB" sz="240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dirty="0">
                          <a:solidFill>
                            <a:srgbClr val="000000"/>
                          </a:solidFill>
                          <a:effectLst/>
                          <a:latin typeface="Times New Roman" panose="02020603050405020304" pitchFamily="18" charset="0"/>
                        </a:rPr>
                        <a:t>Centrist</a:t>
                      </a:r>
                      <a:endParaRPr lang="en-GB" sz="2400" dirty="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a:solidFill>
                            <a:srgbClr val="000000"/>
                          </a:solidFill>
                          <a:effectLst/>
                          <a:latin typeface="Times New Roman" panose="02020603050405020304" pitchFamily="18" charset="0"/>
                        </a:rPr>
                        <a:t>Right wing</a:t>
                      </a:r>
                      <a:endParaRPr lang="en-GB" sz="240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PL" sz="2400" b="0" i="0" u="none" strike="noStrike">
                          <a:solidFill>
                            <a:srgbClr val="000000"/>
                          </a:solidFill>
                          <a:effectLst/>
                          <a:latin typeface="Times New Roman" panose="02020603050405020304" pitchFamily="18" charset="0"/>
                        </a:rPr>
                        <a:t> </a:t>
                      </a:r>
                      <a:endParaRPr lang="en-PL" sz="240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0073648"/>
                  </a:ext>
                </a:extLst>
              </a:tr>
              <a:tr h="1565620">
                <a:tc>
                  <a:txBody>
                    <a:bodyPr/>
                    <a:lstStyle/>
                    <a:p>
                      <a:pPr marL="88900" marR="88900" rtl="0" fontAlgn="t">
                        <a:spcBef>
                          <a:spcPts val="0"/>
                        </a:spcBef>
                        <a:spcAft>
                          <a:spcPts val="0"/>
                        </a:spcAft>
                      </a:pPr>
                      <a:r>
                        <a:rPr lang="en-GB" sz="2400" b="1" i="0" u="none" strike="noStrike">
                          <a:solidFill>
                            <a:srgbClr val="000000"/>
                          </a:solidFill>
                          <a:effectLst/>
                          <a:latin typeface="Times New Roman" panose="02020603050405020304" pitchFamily="18" charset="0"/>
                        </a:rPr>
                        <a:t>PIA means</a:t>
                      </a:r>
                      <a:endParaRPr lang="en-GB" sz="240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dirty="0">
                          <a:solidFill>
                            <a:srgbClr val="000000"/>
                          </a:solidFill>
                          <a:effectLst/>
                          <a:latin typeface="Times New Roman" panose="02020603050405020304" pitchFamily="18" charset="0"/>
                        </a:rPr>
                        <a:t>Populist</a:t>
                      </a:r>
                      <a:endParaRPr lang="en-GB" sz="2400" dirty="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dirty="0">
                          <a:solidFill>
                            <a:srgbClr val="000000"/>
                          </a:solidFill>
                          <a:effectLst/>
                          <a:latin typeface="Times New Roman" panose="02020603050405020304" pitchFamily="18" charset="0"/>
                        </a:rPr>
                        <a:t>Illiberal</a:t>
                      </a:r>
                      <a:endParaRPr lang="en-GB" sz="2400" dirty="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dirty="0">
                          <a:solidFill>
                            <a:srgbClr val="000000"/>
                          </a:solidFill>
                          <a:effectLst/>
                          <a:latin typeface="Times New Roman" panose="02020603050405020304" pitchFamily="18" charset="0"/>
                        </a:rPr>
                        <a:t>Authoritarian</a:t>
                      </a:r>
                      <a:endParaRPr lang="en-GB" sz="2400" dirty="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8900" marR="88900" rtl="0" fontAlgn="t">
                        <a:spcBef>
                          <a:spcPts val="0"/>
                        </a:spcBef>
                        <a:spcAft>
                          <a:spcPts val="0"/>
                        </a:spcAft>
                      </a:pPr>
                      <a:r>
                        <a:rPr lang="en-GB" sz="2400" b="0" i="0" u="none" strike="noStrike" dirty="0">
                          <a:solidFill>
                            <a:srgbClr val="000000"/>
                          </a:solidFill>
                          <a:effectLst/>
                          <a:latin typeface="Times New Roman" panose="02020603050405020304" pitchFamily="18" charset="0"/>
                        </a:rPr>
                        <a:t>Liberal (as control)</a:t>
                      </a:r>
                      <a:endParaRPr lang="en-GB" sz="2400" dirty="0">
                        <a:effectLst/>
                      </a:endParaRPr>
                    </a:p>
                  </a:txBody>
                  <a:tcPr marL="63500" marR="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1833873"/>
                  </a:ext>
                </a:extLst>
              </a:tr>
            </a:tbl>
          </a:graphicData>
        </a:graphic>
      </p:graphicFrame>
      <p:sp>
        <p:nvSpPr>
          <p:cNvPr id="8" name="Rectangle 1">
            <a:extLst>
              <a:ext uri="{FF2B5EF4-FFF2-40B4-BE49-F238E27FC236}">
                <a16:creationId xmlns:a16="http://schemas.microsoft.com/office/drawing/2014/main" id="{5BDA1FAF-35C9-9C90-A900-A66297E6A0B1}"/>
              </a:ext>
            </a:extLst>
          </p:cNvPr>
          <p:cNvSpPr>
            <a:spLocks noChangeArrowheads="1"/>
          </p:cNvSpPr>
          <p:nvPr/>
        </p:nvSpPr>
        <p:spPr bwMode="auto">
          <a:xfrm>
            <a:off x="1060381" y="1818531"/>
            <a:ext cx="21922758" cy="1213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L"/>
          </a:p>
        </p:txBody>
      </p:sp>
    </p:spTree>
    <p:extLst>
      <p:ext uri="{BB962C8B-B14F-4D97-AF65-F5344CB8AC3E}">
        <p14:creationId xmlns:p14="http://schemas.microsoft.com/office/powerpoint/2010/main" val="636794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83F5E-7CDF-0476-F440-38BF7E10034A}"/>
              </a:ext>
            </a:extLst>
          </p:cNvPr>
          <p:cNvSpPr>
            <a:spLocks noGrp="1"/>
          </p:cNvSpPr>
          <p:nvPr>
            <p:ph type="title"/>
          </p:nvPr>
        </p:nvSpPr>
        <p:spPr/>
        <p:txBody>
          <a:bodyPr/>
          <a:lstStyle/>
          <a:p>
            <a:r>
              <a:rPr lang="en-PL" dirty="0"/>
              <a:t>Conjoint Experiment Module</a:t>
            </a:r>
          </a:p>
        </p:txBody>
      </p:sp>
      <p:sp>
        <p:nvSpPr>
          <p:cNvPr id="3" name="Content Placeholder 2">
            <a:extLst>
              <a:ext uri="{FF2B5EF4-FFF2-40B4-BE49-F238E27FC236}">
                <a16:creationId xmlns:a16="http://schemas.microsoft.com/office/drawing/2014/main" id="{C739EDAB-4DD8-5B7B-6D93-7511575D4A1D}"/>
              </a:ext>
            </a:extLst>
          </p:cNvPr>
          <p:cNvSpPr>
            <a:spLocks noGrp="1"/>
          </p:cNvSpPr>
          <p:nvPr>
            <p:ph idx="1"/>
          </p:nvPr>
        </p:nvSpPr>
        <p:spPr/>
        <p:txBody>
          <a:bodyPr>
            <a:normAutofit/>
          </a:bodyPr>
          <a:lstStyle/>
          <a:p>
            <a:r>
              <a:rPr lang="en-PL" dirty="0"/>
              <a:t>Three questions will be asked for each of the 9 iterations of the conjoint:</a:t>
            </a:r>
          </a:p>
          <a:p>
            <a:pPr lvl="1"/>
            <a:r>
              <a:rPr lang="en-GB" dirty="0"/>
              <a:t>1) Which party do you prefer (A or B)?</a:t>
            </a:r>
          </a:p>
          <a:p>
            <a:pPr lvl="1"/>
            <a:r>
              <a:rPr lang="en-GB" dirty="0"/>
              <a:t>2) On a scale from 0-10, how much do you support party A (0= not at all, 10=very highly)</a:t>
            </a:r>
          </a:p>
          <a:p>
            <a:pPr lvl="1"/>
            <a:r>
              <a:rPr lang="en-GB" dirty="0"/>
              <a:t>3) On a scale from 0-10, how much do you support party B (0= not at all, 10=very highly)</a:t>
            </a:r>
          </a:p>
        </p:txBody>
      </p:sp>
    </p:spTree>
    <p:extLst>
      <p:ext uri="{BB962C8B-B14F-4D97-AF65-F5344CB8AC3E}">
        <p14:creationId xmlns:p14="http://schemas.microsoft.com/office/powerpoint/2010/main" val="2822680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83F5E-7CDF-0476-F440-38BF7E10034A}"/>
              </a:ext>
            </a:extLst>
          </p:cNvPr>
          <p:cNvSpPr>
            <a:spLocks noGrp="1"/>
          </p:cNvSpPr>
          <p:nvPr>
            <p:ph type="title"/>
          </p:nvPr>
        </p:nvSpPr>
        <p:spPr/>
        <p:txBody>
          <a:bodyPr/>
          <a:lstStyle/>
          <a:p>
            <a:r>
              <a:rPr lang="en-PL" dirty="0"/>
              <a:t>Conjoint Experiment Module</a:t>
            </a:r>
          </a:p>
        </p:txBody>
      </p:sp>
      <p:sp>
        <p:nvSpPr>
          <p:cNvPr id="3" name="Content Placeholder 2">
            <a:extLst>
              <a:ext uri="{FF2B5EF4-FFF2-40B4-BE49-F238E27FC236}">
                <a16:creationId xmlns:a16="http://schemas.microsoft.com/office/drawing/2014/main" id="{C739EDAB-4DD8-5B7B-6D93-7511575D4A1D}"/>
              </a:ext>
            </a:extLst>
          </p:cNvPr>
          <p:cNvSpPr>
            <a:spLocks noGrp="1"/>
          </p:cNvSpPr>
          <p:nvPr>
            <p:ph idx="1"/>
          </p:nvPr>
        </p:nvSpPr>
        <p:spPr/>
        <p:txBody>
          <a:bodyPr>
            <a:normAutofit lnSpcReduction="10000"/>
          </a:bodyPr>
          <a:lstStyle/>
          <a:p>
            <a:r>
              <a:rPr lang="en-GB" dirty="0"/>
              <a:t>The wording of the questions is currently undergoing development. The team working on the conjoint experiment module has agreed on the fundamental nature of the conjoint policy choices and the populist / illiberal / authoritarian framings.</a:t>
            </a:r>
          </a:p>
          <a:p>
            <a:r>
              <a:rPr lang="en-GB" dirty="0"/>
              <a:t>However, given the need to be careful about issues of translation, project members with native knowledge of the languages of our survey are currently drafting questions independently, in advance of a question reconciliation session scheduled for the third week of March.</a:t>
            </a:r>
          </a:p>
          <a:p>
            <a:r>
              <a:rPr lang="en-GB" dirty="0"/>
              <a:t>Following this meeting, a finalized wording for the conjoint module will be forwarded to the wider survey team </a:t>
            </a:r>
            <a:r>
              <a:rPr lang="en-GB"/>
              <a:t>for approval. </a:t>
            </a:r>
            <a:endParaRPr lang="en-GB" dirty="0"/>
          </a:p>
        </p:txBody>
      </p:sp>
    </p:spTree>
    <p:extLst>
      <p:ext uri="{BB962C8B-B14F-4D97-AF65-F5344CB8AC3E}">
        <p14:creationId xmlns:p14="http://schemas.microsoft.com/office/powerpoint/2010/main" val="2058550268"/>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1185</TotalTime>
  <Words>2208</Words>
  <Application>Microsoft Macintosh PowerPoint</Application>
  <PresentationFormat>Widescreen</PresentationFormat>
  <Paragraphs>177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Corbel</vt:lpstr>
      <vt:lpstr>Times New Roman</vt:lpstr>
      <vt:lpstr>Motyw pakietu Office</vt:lpstr>
      <vt:lpstr>   WP2 Principal tensions and shortcomings of the European political systems, dimensions of empirical research ​  Lead SWPS  M2-6 (November 2022 – March 2023)</vt:lpstr>
      <vt:lpstr>Two deliverables &amp; one milestone </vt:lpstr>
      <vt:lpstr>Key meetings</vt:lpstr>
      <vt:lpstr>D2.1 Structure</vt:lpstr>
      <vt:lpstr>WP2 = making sense of the rich literature and conceptual order</vt:lpstr>
      <vt:lpstr>Populism – Illiberalism – Authoritarianism: overlaps &amp; idiosyncrasies</vt:lpstr>
      <vt:lpstr>Dynamics</vt:lpstr>
      <vt:lpstr>Concluding final sentence of D2.1</vt:lpstr>
      <vt:lpstr>D2.2 Guidelines for Empirical Data Collection</vt:lpstr>
      <vt:lpstr>Key research questions</vt:lpstr>
      <vt:lpstr>Levels of analysis</vt:lpstr>
      <vt:lpstr>Central issues</vt:lpstr>
      <vt:lpstr>   WP4 Survey-based data-collection and experiments on public attitudes  ​  Lead SWPS  M7-25 (April 2023 – October 2024)</vt:lpstr>
      <vt:lpstr>Five deliverables &amp; one milestone </vt:lpstr>
      <vt:lpstr>WP4 Main activities in M7-15</vt:lpstr>
      <vt:lpstr>Key meetings</vt:lpstr>
      <vt:lpstr>Compilation of existing studies, measures, and indicators </vt:lpstr>
      <vt:lpstr> Design of the survey questionnaire </vt:lpstr>
      <vt:lpstr> Design of the survey-embedded conjoint experiment  </vt:lpstr>
      <vt:lpstr>Preparation of the administration of the tender process </vt:lpstr>
      <vt:lpstr>Conditions for participation in the procedure</vt:lpstr>
      <vt:lpstr>Evaluation criteria  </vt:lpstr>
      <vt:lpstr> WP4: STEPS AHEAD </vt:lpstr>
      <vt:lpstr>Conjoint Experiment Module</vt:lpstr>
      <vt:lpstr>Conjoint Experiment Module</vt:lpstr>
      <vt:lpstr>Conjoint Experiment Module</vt:lpstr>
      <vt:lpstr>Conjoint Experiment Module</vt:lpstr>
      <vt:lpstr>Conjoint Experiment Module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WP2 Deliverables</dc:title>
  <dc:creator>Radosław Markowski</dc:creator>
  <cp:lastModifiedBy>Ben Stanley</cp:lastModifiedBy>
  <cp:revision>36</cp:revision>
  <dcterms:created xsi:type="dcterms:W3CDTF">2024-03-11T16:47:31Z</dcterms:created>
  <dcterms:modified xsi:type="dcterms:W3CDTF">2024-03-13T10:57:12Z</dcterms:modified>
</cp:coreProperties>
</file>